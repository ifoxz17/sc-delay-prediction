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6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4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5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6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7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8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9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10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1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2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notesSlides/notesSlide13.xml" ContentType="application/vnd.openxmlformats-officedocument.presentationml.notesSlide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notesSlides/notesSlide14.xml" ContentType="application/vnd.openxmlformats-officedocument.presentationml.notesSlide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15.xml" ContentType="application/vnd.openxmlformats-officedocument.presentationml.notesSlide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16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notesSlides/notesSlide17.xml" ContentType="application/vnd.openxmlformats-officedocument.presentationml.notesSlide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notesSlides/notesSlide18.xml" ContentType="application/vnd.openxmlformats-officedocument.presentationml.notesSlide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notesSlides/notesSlide19.xml" ContentType="application/vnd.openxmlformats-officedocument.presentationml.notesSlide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notesSlides/notesSlide20.xml" ContentType="application/vnd.openxmlformats-officedocument.presentationml.notesSlide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notesSlides/notesSlide21.xml" ContentType="application/vnd.openxmlformats-officedocument.presentationml.notesSlide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notesSlides/notesSlide22.xml" ContentType="application/vnd.openxmlformats-officedocument.presentationml.notesSlide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9" r:id="rId1"/>
    <p:sldMasterId id="2147483650" r:id="rId2"/>
    <p:sldMasterId id="2147483651" r:id="rId3"/>
    <p:sldMasterId id="2147483654" r:id="rId4"/>
    <p:sldMasterId id="2147483671" r:id="rId5"/>
  </p:sldMasterIdLst>
  <p:notesMasterIdLst>
    <p:notesMasterId r:id="rId40"/>
  </p:notesMasterIdLst>
  <p:sldIdLst>
    <p:sldId id="296" r:id="rId6"/>
    <p:sldId id="297" r:id="rId7"/>
    <p:sldId id="321" r:id="rId8"/>
    <p:sldId id="334" r:id="rId9"/>
    <p:sldId id="301" r:id="rId10"/>
    <p:sldId id="324" r:id="rId11"/>
    <p:sldId id="320" r:id="rId12"/>
    <p:sldId id="325" r:id="rId13"/>
    <p:sldId id="327" r:id="rId14"/>
    <p:sldId id="307" r:id="rId15"/>
    <p:sldId id="339" r:id="rId16"/>
    <p:sldId id="309" r:id="rId17"/>
    <p:sldId id="328" r:id="rId18"/>
    <p:sldId id="310" r:id="rId19"/>
    <p:sldId id="317" r:id="rId20"/>
    <p:sldId id="329" r:id="rId21"/>
    <p:sldId id="348" r:id="rId22"/>
    <p:sldId id="371" r:id="rId23"/>
    <p:sldId id="372" r:id="rId24"/>
    <p:sldId id="369" r:id="rId25"/>
    <p:sldId id="366" r:id="rId26"/>
    <p:sldId id="330" r:id="rId27"/>
    <p:sldId id="350" r:id="rId28"/>
    <p:sldId id="352" r:id="rId29"/>
    <p:sldId id="359" r:id="rId30"/>
    <p:sldId id="353" r:id="rId31"/>
    <p:sldId id="354" r:id="rId32"/>
    <p:sldId id="356" r:id="rId33"/>
    <p:sldId id="357" r:id="rId34"/>
    <p:sldId id="358" r:id="rId35"/>
    <p:sldId id="355" r:id="rId36"/>
    <p:sldId id="331" r:id="rId37"/>
    <p:sldId id="363" r:id="rId38"/>
    <p:sldId id="333" r:id="rId39"/>
  </p:sldIdLst>
  <p:sldSz cx="9144000" cy="5143500" type="screen16x9"/>
  <p:notesSz cx="6858000" cy="9144000"/>
  <p:embeddedFontLst>
    <p:embeddedFont>
      <p:font typeface="Aptos Light" panose="020B0004020202020204" pitchFamily="34" charset="0"/>
      <p:regular r:id="rId41"/>
      <p:italic r:id="rId42"/>
    </p:embeddedFont>
    <p:embeddedFont>
      <p:font typeface="Aptos SemiBold" panose="020B0004020202020204" pitchFamily="34" charset="0"/>
      <p:bold r:id="rId43"/>
      <p:boldItalic r:id="rId44"/>
    </p:embeddedFont>
    <p:embeddedFont>
      <p:font typeface="Cambria Math" panose="02040503050406030204" pitchFamily="18" charset="0"/>
      <p:regular r:id="rId45"/>
    </p:embeddedFont>
  </p:embeddedFontLst>
  <p:custDataLst>
    <p:tags r:id="rId4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 and agenda" id="{D7908DF1-6A39-4AF6-99D5-F7F57507C4C3}">
          <p14:sldIdLst>
            <p14:sldId id="296"/>
            <p14:sldId id="297"/>
          </p14:sldIdLst>
        </p14:section>
        <p14:section name="Project overview" id="{10BC4962-C7B5-4116-903A-DA99F43658A8}">
          <p14:sldIdLst>
            <p14:sldId id="321"/>
            <p14:sldId id="334"/>
            <p14:sldId id="301"/>
          </p14:sldIdLst>
        </p14:section>
        <p14:section name="Dataset" id="{4C47147E-B84E-4422-A009-A36C6B277D18}">
          <p14:sldIdLst>
            <p14:sldId id="324"/>
            <p14:sldId id="320"/>
            <p14:sldId id="325"/>
          </p14:sldIdLst>
        </p14:section>
        <p14:section name="Supply chain modeling" id="{ACE01275-D6A8-4AFA-B4DE-AA9E63D92BFE}">
          <p14:sldIdLst>
            <p14:sldId id="327"/>
            <p14:sldId id="307"/>
            <p14:sldId id="339"/>
            <p14:sldId id="309"/>
          </p14:sldIdLst>
        </p14:section>
        <p14:section name="Historical indicators" id="{AFA59C74-C90A-4CA1-9B4D-87E46E3780FD}">
          <p14:sldIdLst>
            <p14:sldId id="328"/>
            <p14:sldId id="310"/>
            <p14:sldId id="317"/>
          </p14:sldIdLst>
        </p14:section>
        <p14:section name="Realtime indicators" id="{76E247DA-49D6-4E34-88E0-3B7C70ED9B56}">
          <p14:sldIdLst>
            <p14:sldId id="329"/>
            <p14:sldId id="348"/>
            <p14:sldId id="371"/>
            <p14:sldId id="372"/>
            <p14:sldId id="369"/>
            <p14:sldId id="366"/>
          </p14:sldIdLst>
        </p14:section>
        <p14:section name="Prototype and results" id="{23DDE0B9-FDFF-43DD-90E9-C1995CCD43ED}">
          <p14:sldIdLst>
            <p14:sldId id="330"/>
            <p14:sldId id="350"/>
            <p14:sldId id="352"/>
            <p14:sldId id="359"/>
            <p14:sldId id="353"/>
            <p14:sldId id="354"/>
            <p14:sldId id="356"/>
            <p14:sldId id="357"/>
            <p14:sldId id="358"/>
            <p14:sldId id="355"/>
          </p14:sldIdLst>
        </p14:section>
        <p14:section name="Conclusion" id="{01947DE0-C6AA-43E7-8247-8D112C68A2A6}">
          <p14:sldIdLst>
            <p14:sldId id="331"/>
            <p14:sldId id="363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E4B"/>
    <a:srgbClr val="9FBCB4"/>
    <a:srgbClr val="477C5A"/>
    <a:srgbClr val="5E8B6E"/>
    <a:srgbClr val="4F8161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B5141-E994-4AD3-AD35-C066B117E498}" v="2774" dt="2025-09-18T20:12:14.960"/>
  </p1510:revLst>
</p1510:revInfo>
</file>

<file path=ppt/tableStyles.xml><?xml version="1.0" encoding="utf-8"?>
<a:tblStyleLst xmlns:a="http://schemas.openxmlformats.org/drawingml/2006/main" def="{63B48042-AE31-4177-9097-B33D8566F184}">
  <a:tblStyle styleId="{63B48042-AE31-4177-9097-B33D8566F18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E9401DF-CD6C-4E42-9A2F-2D9D5E302E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7" autoAdjust="0"/>
    <p:restoredTop sz="94660"/>
  </p:normalViewPr>
  <p:slideViewPr>
    <p:cSldViewPr snapToGrid="0">
      <p:cViewPr>
        <p:scale>
          <a:sx n="75" d="100"/>
          <a:sy n="75" d="100"/>
        </p:scale>
        <p:origin x="2035" y="73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743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61243-3352-CAF2-335C-708A4B81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560F10-E789-6A8C-A784-5994419013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705AC-61BF-0D9E-D541-06A126EF6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r>
              <a:rPr lang="it-IT" dirty="0"/>
              <a:t>M4ESTRO, un progetto europeo di 42 mesi iniziato il 1 dicembre 2023…</a:t>
            </a:r>
          </a:p>
          <a:p>
            <a:pPr marL="457200" indent="-298450"/>
            <a:r>
              <a:rPr lang="it-IT" dirty="0"/>
              <a:t>Il cui obiettivo è sviluppare una piattaforma per il </a:t>
            </a:r>
            <a:r>
              <a:rPr lang="it-IT" dirty="0" err="1"/>
              <a:t>MaaS</a:t>
            </a:r>
            <a:r>
              <a:rPr lang="it-IT" dirty="0"/>
              <a:t>…</a:t>
            </a:r>
          </a:p>
          <a:p>
            <a:pPr marL="457200" indent="-298450"/>
            <a:r>
              <a:rPr lang="it-IT" dirty="0"/>
              <a:t>Per fronteggiare eventi come conflitti, pandemie, cambiamento climatico…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0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298450"/>
            <a:r>
              <a:rPr lang="it-IT" dirty="0"/>
              <a:t>Basato sul concetto di indicatore come una misura quantitativa ed interpretabile di un determinato aspetto della catena di approvvigionamento…</a:t>
            </a:r>
          </a:p>
          <a:p>
            <a:pPr marL="457200" indent="-298450"/>
            <a:r>
              <a:rPr lang="it-IT" dirty="0"/>
              <a:t>I requisiti per il task sotto la mia responsabilità includevano…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005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it-IT" dirty="0"/>
              <a:t>Le sorgenti di dati principali includevano…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127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Queste sorgenti primarie sono state arricchite con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579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catena di approvvigionamento è stata modellata come …</a:t>
            </a:r>
          </a:p>
          <a:p>
            <a:endParaRPr lang="it-IT" dirty="0"/>
          </a:p>
          <a:p>
            <a:r>
              <a:rPr lang="it-IT" dirty="0"/>
              <a:t>Il concetto di flusso, preso dalla letteratura, assicura che ogni spedizione origini in un fornitore e termini nell’azienda manufatturiera.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879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Per descrivere le dinamiche di </a:t>
            </a:r>
            <a:r>
              <a:rPr lang="it-IT" dirty="0" err="1"/>
              <a:t>routing</a:t>
            </a:r>
            <a:r>
              <a:rPr lang="it-IT" dirty="0"/>
              <a:t> è stato utilizzato un modello basato su catene di Markov, in cui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381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Successivamente, tutti i possibili cammini da un vertice alla destinazione con le rispettive probabilità, che formano una distribuzione valida, vengono estratti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466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Gli indicatori storici consistono in misure statistiche basate esclusivamente su dati storici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88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 accordo la letteratura, distribuzione Gamma come riferimento per l’implementazione degli indicatori storici, insieme al criterio di MLE per il fitting e visualizzazioni e test statistici per la validazione.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189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Indicatori </a:t>
            </a:r>
            <a:r>
              <a:rPr lang="it-IT" dirty="0" err="1"/>
              <a:t>realtime</a:t>
            </a:r>
            <a:r>
              <a:rPr lang="it-IT" dirty="0"/>
              <a:t> integrano quelli storici con la struttura a grafo e le informazioni ottenute da servizi esterni.</a:t>
            </a:r>
          </a:p>
          <a:p>
            <a:r>
              <a:rPr lang="it-IT" dirty="0"/>
              <a:t>Organizzati in diversi livelli di granularità, i livelli superiori aggregano i più specifici per ottenere informazioni più significative.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02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 livello di vertici due indicatori per descrivere tempi di processamento dei fornitori (considerando le chiusure aziendali) e delle località intermedie.</a:t>
            </a:r>
          </a:p>
          <a:p>
            <a:r>
              <a:rPr lang="it-IT" dirty="0"/>
              <a:t>A livello di archi due indicatori per quantificare l’impatto di traffico e clima e il tempo richiesto per percorrere l’arco.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11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 più alto livello due indicatori per descrivere il tempo richiesto per uno specifico cammino nel grafo: …</a:t>
            </a:r>
          </a:p>
          <a:p>
            <a:r>
              <a:rPr lang="it-IT" dirty="0"/>
              <a:t>Infine, questi ultimi due vengono uniti tramite una combinazione convessa per determinare il tempo totale di spedizione.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824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Ci siamo chiesti come implementare il fattore di peso per sfruttare le qualità di entrambi i componenti: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87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Implementazione lineare: l’importanza del TT cala linearmente a favore del PT</a:t>
            </a:r>
          </a:p>
          <a:p>
            <a:endParaRPr lang="it-IT" dirty="0"/>
          </a:p>
          <a:p>
            <a:r>
              <a:rPr lang="en-US" dirty="0"/>
              <a:t>Famiglia di </a:t>
            </a:r>
            <a:r>
              <a:rPr lang="en-US" dirty="0" err="1"/>
              <a:t>funzioni</a:t>
            </a:r>
            <a:r>
              <a:rPr lang="en-US" dirty="0"/>
              <a:t> </a:t>
            </a:r>
            <a:r>
              <a:rPr lang="en-US" dirty="0" err="1"/>
              <a:t>polinomiali</a:t>
            </a:r>
            <a:r>
              <a:rPr lang="en-US" dirty="0"/>
              <a:t>: </a:t>
            </a:r>
            <a:r>
              <a:rPr lang="en-US" dirty="0" err="1"/>
              <a:t>parametro</a:t>
            </a:r>
            <a:r>
              <a:rPr lang="en-US" dirty="0"/>
              <a:t> &lt;TT&gt; da </a:t>
            </a:r>
            <a:r>
              <a:rPr lang="en-US" dirty="0" err="1"/>
              <a:t>tunare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971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Architettura del prototipo, sviluppato utilizzando le risorse offerte da AWS e disegnato per avere un alto livello di modularità e indipendenza delle componenti, al fine di 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3105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Sistema valutato sulla capacità di stimare i tempi di spedizione degli ordini. </a:t>
            </a:r>
          </a:p>
          <a:p>
            <a:r>
              <a:rPr lang="it-IT" dirty="0"/>
              <a:t>Tutto il sistema si basa su tempi a livello di ore, ma il nostro partner industriale richiedeva stime a livello di giorni lavorativi: </a:t>
            </a:r>
          </a:p>
          <a:p>
            <a:pPr lvl="1"/>
            <a:r>
              <a:rPr lang="it-IT" dirty="0"/>
              <a:t>Stime orarie: calcolate e valutate in ore e poi riportate in giorni;</a:t>
            </a:r>
          </a:p>
          <a:p>
            <a:pPr lvl="1"/>
            <a:r>
              <a:rPr lang="it-IT" dirty="0"/>
              <a:t>Stime giornaliere: discretizzate e valutate in giorni.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796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Primo step: metriche </a:t>
            </a:r>
            <a:r>
              <a:rPr lang="it-IT" dirty="0" err="1"/>
              <a:t>quantitive</a:t>
            </a:r>
            <a:r>
              <a:rPr lang="it-IT" dirty="0"/>
              <a:t> di </a:t>
            </a:r>
            <a:r>
              <a:rPr lang="it-IT" dirty="0" err="1"/>
              <a:t>sharpness</a:t>
            </a:r>
            <a:r>
              <a:rPr lang="it-IT" dirty="0"/>
              <a:t>, coverage ed </a:t>
            </a:r>
            <a:r>
              <a:rPr lang="it-IT" dirty="0" err="1"/>
              <a:t>interval</a:t>
            </a:r>
            <a:r>
              <a:rPr lang="it-IT" dirty="0"/>
              <a:t> score</a:t>
            </a:r>
          </a:p>
          <a:p>
            <a:r>
              <a:rPr lang="it-IT" dirty="0"/>
              <a:t>Includendo anche la stima del processo di </a:t>
            </a:r>
            <a:r>
              <a:rPr lang="it-IT" dirty="0" err="1"/>
              <a:t>dispatch</a:t>
            </a:r>
            <a:r>
              <a:rPr lang="it-IT" dirty="0"/>
              <a:t>, performance inaffidabili</a:t>
            </a:r>
          </a:p>
          <a:p>
            <a:r>
              <a:rPr lang="it-IT" dirty="0"/>
              <a:t>Considerando solo il processo di spedizione, stime giornaliere vicini ai livelli di confidenza richiesti.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967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Analisi di sensitività conferma inaffidabilità per le stime orarie, mentre quelle giornaliere risultano affidabili fino a livelli di confidenza molto alti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98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Visualizzazione delle stime con il procedere della spedizione:</a:t>
            </a:r>
          </a:p>
          <a:p>
            <a:pPr lvl="1"/>
            <a:r>
              <a:rPr lang="it-IT" dirty="0"/>
              <a:t>Nel grafico inferiore l’avanzare del tempo a seconda dei vari step</a:t>
            </a:r>
          </a:p>
          <a:p>
            <a:pPr lvl="1"/>
            <a:r>
              <a:rPr lang="it-IT" dirty="0"/>
              <a:t>Nel grafico superiore l’intervallo stimato e il giorno di consegna effettivo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19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Incertezza cala con il proseguire della spedizione, dovuto al ridotto numero di possibili cammini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4706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Errore rilevante nei primi step della spedizione, dovuto al ritardo accumulatosi a Colonia ( dedotto dall’inclinazione del segmento)</a:t>
            </a:r>
          </a:p>
        </p:txBody>
      </p:sp>
    </p:spTree>
    <p:extLst>
      <p:ext uri="{BB962C8B-B14F-4D97-AF65-F5344CB8AC3E}">
        <p14:creationId xmlns:p14="http://schemas.microsoft.com/office/powerpoint/2010/main" val="1061723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Futuri sviluppi includono innanzitutto la raccolta di una maggiore quantità di dati, con la quale sarà poi possibile fornire implementazioni più raffinate degli indicatori</a:t>
            </a:r>
          </a:p>
          <a:p>
            <a:r>
              <a:rPr lang="it-IT" dirty="0"/>
              <a:t>Inoltre il framework dovrà essere esteso per aggregare dati da più di un’azienda manufatturiera.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8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9E62E4B-BF97-70EF-9772-0A95A8D0C9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E62E4B-BF97-70EF-9772-0A95A8D0C9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2916" y="3694070"/>
            <a:ext cx="5987034" cy="445497"/>
          </a:xfrm>
        </p:spPr>
        <p:txBody>
          <a:bodyPr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2916" y="1897560"/>
            <a:ext cx="5987034" cy="169364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l">
              <a:defRPr sz="285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D0CD4A-C167-C03D-FE7E-7A04D7F2341D}"/>
              </a:ext>
            </a:extLst>
          </p:cNvPr>
          <p:cNvSpPr/>
          <p:nvPr userDrawn="1"/>
        </p:nvSpPr>
        <p:spPr>
          <a:xfrm>
            <a:off x="3029578" y="1612923"/>
            <a:ext cx="205740" cy="20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9F141-A770-D09D-FF25-51A4C30E1F6A}"/>
              </a:ext>
            </a:extLst>
          </p:cNvPr>
          <p:cNvSpPr/>
          <p:nvPr userDrawn="1"/>
        </p:nvSpPr>
        <p:spPr>
          <a:xfrm>
            <a:off x="708089" y="2308247"/>
            <a:ext cx="205740" cy="20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BC2A2C-68D6-9928-E8F6-51C6FBE496C9}"/>
              </a:ext>
            </a:extLst>
          </p:cNvPr>
          <p:cNvSpPr/>
          <p:nvPr userDrawn="1"/>
        </p:nvSpPr>
        <p:spPr>
          <a:xfrm>
            <a:off x="5778179" y="4178618"/>
            <a:ext cx="205740" cy="20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774545-8CA4-0234-9C28-6D5FE7FA9DA7}"/>
              </a:ext>
            </a:extLst>
          </p:cNvPr>
          <p:cNvSpPr/>
          <p:nvPr userDrawn="1"/>
        </p:nvSpPr>
        <p:spPr>
          <a:xfrm>
            <a:off x="8859554" y="3497126"/>
            <a:ext cx="205740" cy="205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20">
            <a:extLst>
              <a:ext uri="{FF2B5EF4-FFF2-40B4-BE49-F238E27FC236}">
                <a16:creationId xmlns:a16="http://schemas.microsoft.com/office/drawing/2014/main" id="{8F4631FC-738A-EA52-E171-FCA96CD1A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41414" y="4899946"/>
            <a:ext cx="2057400" cy="194142"/>
          </a:xfrm>
        </p:spPr>
        <p:txBody>
          <a:bodyPr/>
          <a:lstStyle/>
          <a:p>
            <a:fld id="{0122C274-3D99-4A24-ADE9-DD3F36DB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4D7CEC-F1C0-EC3F-ED76-363EB15280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4D7CEC-F1C0-EC3F-ED76-363EB1528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80173"/>
            <a:ext cx="8455914" cy="3252549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4A7CC33A-95C4-503A-96EC-57278D0A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51CB42C-524F-DEFC-AF2C-D6EFAB7F3B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55536"/>
            <a:ext cx="8455819" cy="152400"/>
          </a:xfrm>
        </p:spPr>
        <p:txBody>
          <a:bodyPr vert="horz" lIns="0" tIns="0" rIns="91440" bIns="0" rtlCol="0" anchor="ctr">
            <a:normAutofit/>
          </a:bodyPr>
          <a:lstStyle>
            <a:lvl1pPr>
              <a:defRPr lang="en-US" sz="825" cap="all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4637A1-BBA6-9046-A634-F8ADD8056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782241"/>
            <a:ext cx="8455819" cy="463153"/>
          </a:xfrm>
        </p:spPr>
        <p:txBody>
          <a:bodyPr lIns="45720" tIns="91440" rIns="4572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03D18F9-3BC3-1841-2E1B-1E3C053CC3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22C274-3D99-4A24-ADE9-DD3F36DB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4D7CEC-F1C0-EC3F-ED76-363EB15280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4D7CEC-F1C0-EC3F-ED76-363EB1528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80173"/>
            <a:ext cx="8455914" cy="3252549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4A7CC33A-95C4-503A-96EC-57278D0A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51CB42C-524F-DEFC-AF2C-D6EFAB7F3B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55536"/>
            <a:ext cx="8455819" cy="152400"/>
          </a:xfrm>
        </p:spPr>
        <p:txBody>
          <a:bodyPr vert="horz" lIns="0" tIns="0" rIns="91440" bIns="0" rtlCol="0" anchor="ctr">
            <a:normAutofit/>
          </a:bodyPr>
          <a:lstStyle>
            <a:lvl1pPr>
              <a:defRPr lang="en-US" sz="825" cap="all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4637A1-BBA6-9046-A634-F8ADD8056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782241"/>
            <a:ext cx="8455819" cy="463153"/>
          </a:xfrm>
        </p:spPr>
        <p:txBody>
          <a:bodyPr lIns="45720" tIns="91440" rIns="4572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03D18F9-3BC3-1841-2E1B-1E3C053CC3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22C274-3D99-4A24-ADE9-DD3F36DB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4D7CEC-F1C0-EC3F-ED76-363EB15280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4D7CEC-F1C0-EC3F-ED76-363EB1528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80173"/>
            <a:ext cx="8455914" cy="3252549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4A7CC33A-95C4-503A-96EC-57278D0A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51CB42C-524F-DEFC-AF2C-D6EFAB7F3B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55536"/>
            <a:ext cx="8455819" cy="152400"/>
          </a:xfrm>
        </p:spPr>
        <p:txBody>
          <a:bodyPr vert="horz" lIns="0" tIns="0" rIns="91440" bIns="0" rtlCol="0" anchor="ctr">
            <a:normAutofit/>
          </a:bodyPr>
          <a:lstStyle>
            <a:lvl1pPr>
              <a:defRPr lang="en-US" sz="825" cap="all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4637A1-BBA6-9046-A634-F8ADD8056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782241"/>
            <a:ext cx="8455819" cy="463153"/>
          </a:xfrm>
        </p:spPr>
        <p:txBody>
          <a:bodyPr lIns="45720" tIns="91440" rIns="4572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03D18F9-3BC3-1841-2E1B-1E3C053CC3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22C274-3D99-4A24-ADE9-DD3F36DB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4D7CEC-F1C0-EC3F-ED76-363EB15280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4D7CEC-F1C0-EC3F-ED76-363EB1528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80173"/>
            <a:ext cx="8455914" cy="3252549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4A7CC33A-95C4-503A-96EC-57278D0A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51CB42C-524F-DEFC-AF2C-D6EFAB7F3B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55536"/>
            <a:ext cx="8455819" cy="152400"/>
          </a:xfrm>
        </p:spPr>
        <p:txBody>
          <a:bodyPr vert="horz" lIns="0" tIns="0" rIns="91440" bIns="0" rtlCol="0" anchor="ctr">
            <a:normAutofit/>
          </a:bodyPr>
          <a:lstStyle>
            <a:lvl1pPr>
              <a:defRPr lang="en-US" sz="825" cap="all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4637A1-BBA6-9046-A634-F8ADD8056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782241"/>
            <a:ext cx="8455819" cy="463153"/>
          </a:xfrm>
        </p:spPr>
        <p:txBody>
          <a:bodyPr lIns="45720" tIns="91440" rIns="4572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03D18F9-3BC3-1841-2E1B-1E3C053CC3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22C274-3D99-4A24-ADE9-DD3F36DB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5943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76096"/>
            <a:ext cx="1981962" cy="2817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39746" y="1876096"/>
            <a:ext cx="1981962" cy="2817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50EAC16-3B86-317F-2CED-01BEFE8BFE5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57200" y="1059181"/>
            <a:ext cx="1981962" cy="71023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50" b="1">
                <a:latin typeface="+mj-lt"/>
              </a:defRPr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A0600A-89E3-8CAB-4C19-49198C79214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2539746" y="1059181"/>
            <a:ext cx="1981962" cy="71023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50" b="1">
                <a:latin typeface="+mj-lt"/>
              </a:defRPr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90ACF7-A408-80E0-A25E-8A9F74C3F2B6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22292" y="1876096"/>
            <a:ext cx="1981962" cy="2817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DEA59C2-DB92-D43E-C415-F2F3982923E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704838" y="1877674"/>
            <a:ext cx="1981962" cy="28178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B1781E3-ED60-E5E7-C672-6460D334A22A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622292" y="1059181"/>
            <a:ext cx="1981962" cy="71023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50" b="1">
                <a:latin typeface="+mj-lt"/>
              </a:defRPr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B5BF9F1-DF69-2318-71B1-9FBF8A1100A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704838" y="1059181"/>
            <a:ext cx="1981962" cy="71023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650" b="1">
                <a:latin typeface="+mj-lt"/>
              </a:defRPr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0555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4D7CEC-F1C0-EC3F-ED76-363EB152801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4D7CEC-F1C0-EC3F-ED76-363EB1528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380173"/>
            <a:ext cx="8455914" cy="3252549"/>
          </a:xfrm>
        </p:spPr>
        <p:txBody>
          <a:bodyPr>
            <a:normAutofit/>
          </a:bodyPr>
          <a:lstStyle>
            <a:lvl1pPr>
              <a:defRPr sz="900"/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itle 11">
            <a:extLst>
              <a:ext uri="{FF2B5EF4-FFF2-40B4-BE49-F238E27FC236}">
                <a16:creationId xmlns:a16="http://schemas.microsoft.com/office/drawing/2014/main" id="{4A7CC33A-95C4-503A-96EC-57278D0A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451CB42C-524F-DEFC-AF2C-D6EFAB7F3B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255536"/>
            <a:ext cx="8455819" cy="152400"/>
          </a:xfrm>
        </p:spPr>
        <p:txBody>
          <a:bodyPr vert="horz" lIns="0" tIns="0" rIns="91440" bIns="0" rtlCol="0" anchor="ctr">
            <a:normAutofit/>
          </a:bodyPr>
          <a:lstStyle>
            <a:lvl1pPr>
              <a:defRPr lang="en-US" sz="825" cap="all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04637A1-BBA6-9046-A634-F8ADD8056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2900" y="782241"/>
            <a:ext cx="8455819" cy="463153"/>
          </a:xfrm>
        </p:spPr>
        <p:txBody>
          <a:bodyPr lIns="45720" tIns="91440" rIns="45720"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603D18F9-3BC3-1841-2E1B-1E3C053CC37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22C274-3D99-4A24-ADE9-DD3F36DB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99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1.bin"/><Relationship Id="rId5" Type="http://schemas.openxmlformats.org/officeDocument/2006/relationships/tags" Target="../tags/tag10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9D5DCAE4-308E-0CE1-5983-C3126AD7DA33}"/>
              </a:ext>
            </a:extLst>
          </p:cNvPr>
          <p:cNvSpPr txBox="1">
            <a:spLocks/>
          </p:cNvSpPr>
          <p:nvPr userDrawn="1"/>
        </p:nvSpPr>
        <p:spPr>
          <a:xfrm>
            <a:off x="3027557" y="4899945"/>
            <a:ext cx="3086100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CONFIDENTIAL | DRAFT</a:t>
            </a: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3B2520-722D-E664-5E92-1E0293A49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3B2520-722D-E664-5E92-1E0293A49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457325"/>
            <a:ext cx="8455914" cy="3175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4F4112-2266-CB99-BE28-A630BFC47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14" y="4899946"/>
            <a:ext cx="2057400" cy="194142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 anchor="ctr"/>
          <a:lstStyle>
            <a:lvl1pPr algn="r">
              <a:defRPr sz="750">
                <a:solidFill>
                  <a:schemeClr val="tx2">
                    <a:alpha val="50000"/>
                  </a:schemeClr>
                </a:solidFill>
              </a:defRPr>
            </a:lvl1pPr>
          </a:lstStyle>
          <a:p>
            <a:fld id="{0122C274-3D99-4A24-ADE9-DD3F36DB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FDB8E3CE-7117-C359-1BE9-6114324E49D4}"/>
              </a:ext>
            </a:extLst>
          </p:cNvPr>
          <p:cNvSpPr txBox="1">
            <a:spLocks/>
          </p:cNvSpPr>
          <p:nvPr userDrawn="1"/>
        </p:nvSpPr>
        <p:spPr>
          <a:xfrm>
            <a:off x="342900" y="4899945"/>
            <a:ext cx="2719552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© Copyright 2025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 userDrawn="1">
          <p15:clr>
            <a:srgbClr val="F26B43"/>
          </p15:clr>
        </p15:guide>
        <p15:guide id="2" pos="162" userDrawn="1">
          <p15:clr>
            <a:srgbClr val="F26B43"/>
          </p15:clr>
        </p15:guide>
        <p15:guide id="3" pos="559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orient="horz" pos="3078" userDrawn="1">
          <p15:clr>
            <a:srgbClr val="F26B43"/>
          </p15:clr>
        </p15:guide>
        <p15:guide id="7" orient="horz" pos="3024" userDrawn="1">
          <p15:clr>
            <a:srgbClr val="F26B43"/>
          </p15:clr>
        </p15:guide>
        <p15:guide id="8" pos="1998" userDrawn="1">
          <p15:clr>
            <a:srgbClr val="F26B43"/>
          </p15:clr>
        </p15:guide>
        <p15:guide id="9" pos="37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9D5DCAE4-308E-0CE1-5983-C3126AD7DA33}"/>
              </a:ext>
            </a:extLst>
          </p:cNvPr>
          <p:cNvSpPr txBox="1">
            <a:spLocks/>
          </p:cNvSpPr>
          <p:nvPr userDrawn="1"/>
        </p:nvSpPr>
        <p:spPr>
          <a:xfrm>
            <a:off x="3027557" y="4899945"/>
            <a:ext cx="3086100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CONFIDENTIAL | DRAFT</a:t>
            </a: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3B2520-722D-E664-5E92-1E0293A49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3B2520-722D-E664-5E92-1E0293A49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457325"/>
            <a:ext cx="8455914" cy="3175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4F4112-2266-CB99-BE28-A630BFC47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14" y="4899946"/>
            <a:ext cx="2057400" cy="194142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 anchor="ctr"/>
          <a:lstStyle>
            <a:lvl1pPr algn="r">
              <a:defRPr sz="750">
                <a:solidFill>
                  <a:schemeClr val="tx2">
                    <a:alpha val="50000"/>
                  </a:schemeClr>
                </a:solidFill>
              </a:defRPr>
            </a:lvl1pPr>
          </a:lstStyle>
          <a:p>
            <a:fld id="{0122C274-3D99-4A24-ADE9-DD3F36DB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FDB8E3CE-7117-C359-1BE9-6114324E49D4}"/>
              </a:ext>
            </a:extLst>
          </p:cNvPr>
          <p:cNvSpPr txBox="1">
            <a:spLocks/>
          </p:cNvSpPr>
          <p:nvPr userDrawn="1"/>
        </p:nvSpPr>
        <p:spPr>
          <a:xfrm>
            <a:off x="342900" y="4899945"/>
            <a:ext cx="2719552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© Copyright 2025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 userDrawn="1">
          <p15:clr>
            <a:srgbClr val="F26B43"/>
          </p15:clr>
        </p15:guide>
        <p15:guide id="2" pos="162" userDrawn="1">
          <p15:clr>
            <a:srgbClr val="F26B43"/>
          </p15:clr>
        </p15:guide>
        <p15:guide id="3" pos="559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orient="horz" pos="3078" userDrawn="1">
          <p15:clr>
            <a:srgbClr val="F26B43"/>
          </p15:clr>
        </p15:guide>
        <p15:guide id="7" orient="horz" pos="3024" userDrawn="1">
          <p15:clr>
            <a:srgbClr val="F26B43"/>
          </p15:clr>
        </p15:guide>
        <p15:guide id="8" pos="1998" userDrawn="1">
          <p15:clr>
            <a:srgbClr val="F26B43"/>
          </p15:clr>
        </p15:guide>
        <p15:guide id="9" pos="376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9D5DCAE4-308E-0CE1-5983-C3126AD7DA33}"/>
              </a:ext>
            </a:extLst>
          </p:cNvPr>
          <p:cNvSpPr txBox="1">
            <a:spLocks/>
          </p:cNvSpPr>
          <p:nvPr userDrawn="1"/>
        </p:nvSpPr>
        <p:spPr>
          <a:xfrm>
            <a:off x="3027557" y="4899945"/>
            <a:ext cx="3086100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CONFIDENTIAL | DRAFT</a:t>
            </a: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3B2520-722D-E664-5E92-1E0293A49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3B2520-722D-E664-5E92-1E0293A49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457325"/>
            <a:ext cx="8455914" cy="3175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4F4112-2266-CB99-BE28-A630BFC47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14" y="4899946"/>
            <a:ext cx="2057400" cy="194142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 anchor="ctr"/>
          <a:lstStyle>
            <a:lvl1pPr algn="r">
              <a:defRPr sz="750">
                <a:solidFill>
                  <a:schemeClr val="tx2">
                    <a:alpha val="50000"/>
                  </a:schemeClr>
                </a:solidFill>
              </a:defRPr>
            </a:lvl1pPr>
          </a:lstStyle>
          <a:p>
            <a:fld id="{0122C274-3D99-4A24-ADE9-DD3F36DB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FDB8E3CE-7117-C359-1BE9-6114324E49D4}"/>
              </a:ext>
            </a:extLst>
          </p:cNvPr>
          <p:cNvSpPr txBox="1">
            <a:spLocks/>
          </p:cNvSpPr>
          <p:nvPr userDrawn="1"/>
        </p:nvSpPr>
        <p:spPr>
          <a:xfrm>
            <a:off x="342900" y="4899945"/>
            <a:ext cx="2719552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© Copyright 2025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 userDrawn="1">
          <p15:clr>
            <a:srgbClr val="F26B43"/>
          </p15:clr>
        </p15:guide>
        <p15:guide id="2" pos="162" userDrawn="1">
          <p15:clr>
            <a:srgbClr val="F26B43"/>
          </p15:clr>
        </p15:guide>
        <p15:guide id="3" pos="559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orient="horz" pos="3078" userDrawn="1">
          <p15:clr>
            <a:srgbClr val="F26B43"/>
          </p15:clr>
        </p15:guide>
        <p15:guide id="7" orient="horz" pos="3024" userDrawn="1">
          <p15:clr>
            <a:srgbClr val="F26B43"/>
          </p15:clr>
        </p15:guide>
        <p15:guide id="8" pos="1998" userDrawn="1">
          <p15:clr>
            <a:srgbClr val="F26B43"/>
          </p15:clr>
        </p15:guide>
        <p15:guide id="9" pos="376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9D5DCAE4-308E-0CE1-5983-C3126AD7DA33}"/>
              </a:ext>
            </a:extLst>
          </p:cNvPr>
          <p:cNvSpPr txBox="1">
            <a:spLocks/>
          </p:cNvSpPr>
          <p:nvPr userDrawn="1"/>
        </p:nvSpPr>
        <p:spPr>
          <a:xfrm>
            <a:off x="3027557" y="4899945"/>
            <a:ext cx="3086100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CONFIDENTIAL | DRAFT</a:t>
            </a: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3B2520-722D-E664-5E92-1E0293A49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3B2520-722D-E664-5E92-1E0293A49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457325"/>
            <a:ext cx="8455914" cy="3175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4F4112-2266-CB99-BE28-A630BFC47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14" y="4899946"/>
            <a:ext cx="2057400" cy="194142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 anchor="ctr"/>
          <a:lstStyle>
            <a:lvl1pPr algn="r">
              <a:defRPr sz="750">
                <a:solidFill>
                  <a:schemeClr val="tx2">
                    <a:alpha val="50000"/>
                  </a:schemeClr>
                </a:solidFill>
              </a:defRPr>
            </a:lvl1pPr>
          </a:lstStyle>
          <a:p>
            <a:fld id="{0122C274-3D99-4A24-ADE9-DD3F36DB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FDB8E3CE-7117-C359-1BE9-6114324E49D4}"/>
              </a:ext>
            </a:extLst>
          </p:cNvPr>
          <p:cNvSpPr txBox="1">
            <a:spLocks/>
          </p:cNvSpPr>
          <p:nvPr userDrawn="1"/>
        </p:nvSpPr>
        <p:spPr>
          <a:xfrm>
            <a:off x="342900" y="4899945"/>
            <a:ext cx="2719552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© Copyright 2025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 userDrawn="1">
          <p15:clr>
            <a:srgbClr val="F26B43"/>
          </p15:clr>
        </p15:guide>
        <p15:guide id="2" pos="162" userDrawn="1">
          <p15:clr>
            <a:srgbClr val="F26B43"/>
          </p15:clr>
        </p15:guide>
        <p15:guide id="3" pos="559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orient="horz" pos="3078" userDrawn="1">
          <p15:clr>
            <a:srgbClr val="F26B43"/>
          </p15:clr>
        </p15:guide>
        <p15:guide id="7" orient="horz" pos="3024" userDrawn="1">
          <p15:clr>
            <a:srgbClr val="F26B43"/>
          </p15:clr>
        </p15:guide>
        <p15:guide id="8" pos="1998" userDrawn="1">
          <p15:clr>
            <a:srgbClr val="F26B43"/>
          </p15:clr>
        </p15:guide>
        <p15:guide id="9" pos="3762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7">
            <a:extLst>
              <a:ext uri="{FF2B5EF4-FFF2-40B4-BE49-F238E27FC236}">
                <a16:creationId xmlns:a16="http://schemas.microsoft.com/office/drawing/2014/main" id="{9D5DCAE4-308E-0CE1-5983-C3126AD7DA33}"/>
              </a:ext>
            </a:extLst>
          </p:cNvPr>
          <p:cNvSpPr txBox="1">
            <a:spLocks/>
          </p:cNvSpPr>
          <p:nvPr userDrawn="1"/>
        </p:nvSpPr>
        <p:spPr>
          <a:xfrm>
            <a:off x="3027557" y="4899945"/>
            <a:ext cx="3086100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CONFIDENTIAL | DRAFT</a:t>
            </a: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F3B2520-722D-E664-5E92-1E0293A499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3B2520-722D-E664-5E92-1E0293A499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11480"/>
            <a:ext cx="8455914" cy="3703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457325"/>
            <a:ext cx="8455914" cy="3175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54F4112-2266-CB99-BE28-A630BFC47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41414" y="4899946"/>
            <a:ext cx="2057400" cy="194142"/>
          </a:xfrm>
          <a:prstGeom prst="rect">
            <a:avLst/>
          </a:prstGeom>
          <a:ln>
            <a:noFill/>
          </a:ln>
        </p:spPr>
        <p:txBody>
          <a:bodyPr vert="horz" lIns="45720" tIns="45720" rIns="45720" bIns="45720" rtlCol="0" anchor="ctr"/>
          <a:lstStyle>
            <a:lvl1pPr algn="r">
              <a:defRPr sz="750">
                <a:solidFill>
                  <a:schemeClr val="tx2">
                    <a:alpha val="50000"/>
                  </a:schemeClr>
                </a:solidFill>
              </a:defRPr>
            </a:lvl1pPr>
          </a:lstStyle>
          <a:p>
            <a:fld id="{0122C274-3D99-4A24-ADE9-DD3F36DB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17">
            <a:extLst>
              <a:ext uri="{FF2B5EF4-FFF2-40B4-BE49-F238E27FC236}">
                <a16:creationId xmlns:a16="http://schemas.microsoft.com/office/drawing/2014/main" id="{FDB8E3CE-7117-C359-1BE9-6114324E49D4}"/>
              </a:ext>
            </a:extLst>
          </p:cNvPr>
          <p:cNvSpPr txBox="1">
            <a:spLocks/>
          </p:cNvSpPr>
          <p:nvPr userDrawn="1"/>
        </p:nvSpPr>
        <p:spPr>
          <a:xfrm>
            <a:off x="342900" y="4899945"/>
            <a:ext cx="2719552" cy="194143"/>
          </a:xfrm>
          <a:prstGeom prst="rect">
            <a:avLst/>
          </a:prstGeom>
          <a:ln>
            <a:noFill/>
          </a:ln>
        </p:spPr>
        <p:txBody>
          <a:bodyPr vert="horz" lIns="34290" tIns="34290" rIns="3429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50" dirty="0">
                <a:solidFill>
                  <a:schemeClr val="tx2">
                    <a:alpha val="50000"/>
                  </a:schemeClr>
                </a:solidFill>
              </a:rPr>
              <a:t>© Copyright 2025</a:t>
            </a:r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9" r:id="rId2"/>
    <p:sldLayoutId id="214748370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0" kern="1200" spc="0" baseline="0">
          <a:solidFill>
            <a:schemeClr val="tx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" userDrawn="1">
          <p15:clr>
            <a:srgbClr val="F26B43"/>
          </p15:clr>
        </p15:guide>
        <p15:guide id="2" pos="162" userDrawn="1">
          <p15:clr>
            <a:srgbClr val="F26B43"/>
          </p15:clr>
        </p15:guide>
        <p15:guide id="3" pos="5598" userDrawn="1">
          <p15:clr>
            <a:srgbClr val="F26B43"/>
          </p15:clr>
        </p15:guide>
        <p15:guide id="4" pos="216" userDrawn="1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orient="horz" pos="3078" userDrawn="1">
          <p15:clr>
            <a:srgbClr val="F26B43"/>
          </p15:clr>
        </p15:guide>
        <p15:guide id="7" orient="horz" pos="3024" userDrawn="1">
          <p15:clr>
            <a:srgbClr val="F26B43"/>
          </p15:clr>
        </p15:guide>
        <p15:guide id="8" pos="1998" userDrawn="1">
          <p15:clr>
            <a:srgbClr val="F26B43"/>
          </p15:clr>
        </p15:guide>
        <p15:guide id="9" pos="37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5.xml"/><Relationship Id="rId7" Type="http://schemas.openxmlformats.org/officeDocument/2006/relationships/oleObject" Target="../embeddings/oleObject4.bin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6.emf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notesSlide" Target="../notesSlides/notesSlide2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slideLayout" Target="../slideLayouts/slideLayout3.xml"/><Relationship Id="rId17" Type="http://schemas.openxmlformats.org/officeDocument/2006/relationships/image" Target="../media/image9.png"/><Relationship Id="rId2" Type="http://schemas.openxmlformats.org/officeDocument/2006/relationships/tags" Target="../tags/tag22.xml"/><Relationship Id="rId16" Type="http://schemas.openxmlformats.org/officeDocument/2006/relationships/image" Target="../media/image8.jpe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image" Target="../media/image7.emf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image" Target="../media/image9.png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image" Target="../media/image10.emf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oleObject" Target="../embeddings/oleObject7.bin"/><Relationship Id="rId5" Type="http://schemas.openxmlformats.org/officeDocument/2006/relationships/tags" Target="../tags/tag36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35.xml"/><Relationship Id="rId9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18" Type="http://schemas.openxmlformats.org/officeDocument/2006/relationships/image" Target="../media/image13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image" Target="../media/image12.png"/><Relationship Id="rId2" Type="http://schemas.openxmlformats.org/officeDocument/2006/relationships/tags" Target="../tags/tag41.xml"/><Relationship Id="rId16" Type="http://schemas.openxmlformats.org/officeDocument/2006/relationships/image" Target="../media/image11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49.xml"/><Relationship Id="rId19" Type="http://schemas.openxmlformats.org/officeDocument/2006/relationships/image" Target="../media/image9.png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image" Target="../media/image16.png"/><Relationship Id="rId3" Type="http://schemas.openxmlformats.org/officeDocument/2006/relationships/tags" Target="../tags/tag55.xml"/><Relationship Id="rId21" Type="http://schemas.openxmlformats.org/officeDocument/2006/relationships/image" Target="../media/image9.png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image" Target="../media/image15.png"/><Relationship Id="rId2" Type="http://schemas.openxmlformats.org/officeDocument/2006/relationships/tags" Target="../tags/tag5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notesSlide" Target="../notesSlides/notesSlide5.xml"/><Relationship Id="rId10" Type="http://schemas.openxmlformats.org/officeDocument/2006/relationships/tags" Target="../tags/tag62.xml"/><Relationship Id="rId19" Type="http://schemas.openxmlformats.org/officeDocument/2006/relationships/image" Target="../media/image17.png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9.png"/><Relationship Id="rId3" Type="http://schemas.openxmlformats.org/officeDocument/2006/relationships/tags" Target="../tags/tag68.xml"/><Relationship Id="rId7" Type="http://schemas.openxmlformats.org/officeDocument/2006/relationships/tags" Target="../tags/tag72.xml"/><Relationship Id="rId12" Type="http://schemas.openxmlformats.org/officeDocument/2006/relationships/notesSlide" Target="../notesSlides/notesSlide6.xml"/><Relationship Id="rId17" Type="http://schemas.openxmlformats.org/officeDocument/2006/relationships/image" Target="../media/image22.png"/><Relationship Id="rId2" Type="http://schemas.openxmlformats.org/officeDocument/2006/relationships/tags" Target="../tags/tag67.xml"/><Relationship Id="rId16" Type="http://schemas.openxmlformats.org/officeDocument/2006/relationships/image" Target="../media/image21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70.xml"/><Relationship Id="rId15" Type="http://schemas.openxmlformats.org/officeDocument/2006/relationships/image" Target="../media/image20.png"/><Relationship Id="rId10" Type="http://schemas.openxmlformats.org/officeDocument/2006/relationships/tags" Target="../tags/tag75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image" Target="../media/image1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oleObject" Target="../embeddings/oleObject9.bin"/><Relationship Id="rId18" Type="http://schemas.openxmlformats.org/officeDocument/2006/relationships/tags" Target="../tags/tag85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notesSlide" Target="../notesSlides/notesSlide7.xml"/><Relationship Id="rId17" Type="http://schemas.openxmlformats.org/officeDocument/2006/relationships/image" Target="../media/image23.png"/><Relationship Id="rId2" Type="http://schemas.openxmlformats.org/officeDocument/2006/relationships/tags" Target="../tags/tag77.xml"/><Relationship Id="rId16" Type="http://schemas.openxmlformats.org/officeDocument/2006/relationships/image" Target="../media/image220.png"/><Relationship Id="rId20" Type="http://schemas.openxmlformats.org/officeDocument/2006/relationships/image" Target="../media/image9.png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15" Type="http://schemas.openxmlformats.org/officeDocument/2006/relationships/tags" Target="../tags/tag79.xml"/><Relationship Id="rId10" Type="http://schemas.openxmlformats.org/officeDocument/2006/relationships/tags" Target="../tags/tag85.xml"/><Relationship Id="rId19" Type="http://schemas.openxmlformats.org/officeDocument/2006/relationships/image" Target="../media/image25.png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image" Target="../media/image2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27.png"/><Relationship Id="rId3" Type="http://schemas.openxmlformats.org/officeDocument/2006/relationships/tags" Target="../tags/tag89.xml"/><Relationship Id="rId7" Type="http://schemas.openxmlformats.org/officeDocument/2006/relationships/tags" Target="../tags/tag93.xml"/><Relationship Id="rId12" Type="http://schemas.openxmlformats.org/officeDocument/2006/relationships/notesSlide" Target="../notesSlides/notesSlide8.xml"/><Relationship Id="rId17" Type="http://schemas.openxmlformats.org/officeDocument/2006/relationships/tags" Target="../tags/tag93.xml"/><Relationship Id="rId2" Type="http://schemas.openxmlformats.org/officeDocument/2006/relationships/tags" Target="../tags/tag88.xml"/><Relationship Id="rId16" Type="http://schemas.openxmlformats.org/officeDocument/2006/relationships/image" Target="../media/image26.png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15" Type="http://schemas.openxmlformats.org/officeDocument/2006/relationships/tags" Target="../tags/tag91.xml"/><Relationship Id="rId10" Type="http://schemas.openxmlformats.org/officeDocument/2006/relationships/tags" Target="../tags/tag96.xml"/><Relationship Id="rId19" Type="http://schemas.openxmlformats.org/officeDocument/2006/relationships/image" Target="../media/image9.png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image" Target="../media/image24.emf"/><Relationship Id="rId18" Type="http://schemas.openxmlformats.org/officeDocument/2006/relationships/image" Target="../media/image9.png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9.png"/><Relationship Id="rId2" Type="http://schemas.openxmlformats.org/officeDocument/2006/relationships/tags" Target="../tags/tag98.xml"/><Relationship Id="rId16" Type="http://schemas.openxmlformats.org/officeDocument/2006/relationships/tags" Target="../tags/tag103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notesSlide" Target="../notesSlides/notesSlide9.xml"/><Relationship Id="rId5" Type="http://schemas.openxmlformats.org/officeDocument/2006/relationships/tags" Target="../tags/tag101.xml"/><Relationship Id="rId15" Type="http://schemas.openxmlformats.org/officeDocument/2006/relationships/image" Target="../media/image28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tags" Target="../tags/tag10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image" Target="../media/image30.png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image" Target="../media/image7.emf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oleObject" Target="../embeddings/oleObject6.bin"/><Relationship Id="rId5" Type="http://schemas.openxmlformats.org/officeDocument/2006/relationships/tags" Target="../tags/tag110.xml"/><Relationship Id="rId15" Type="http://schemas.openxmlformats.org/officeDocument/2006/relationships/image" Target="../media/image9.png"/><Relationship Id="rId10" Type="http://schemas.openxmlformats.org/officeDocument/2006/relationships/notesSlide" Target="../notesSlides/notesSlide10.xml"/><Relationship Id="rId4" Type="http://schemas.openxmlformats.org/officeDocument/2006/relationships/tags" Target="../tags/tag109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116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9.png"/><Relationship Id="rId5" Type="http://schemas.openxmlformats.org/officeDocument/2006/relationships/tags" Target="../tags/tag118.xml"/><Relationship Id="rId10" Type="http://schemas.openxmlformats.org/officeDocument/2006/relationships/image" Target="../media/image24.emf"/><Relationship Id="rId4" Type="http://schemas.openxmlformats.org/officeDocument/2006/relationships/tags" Target="../tags/tag117.xml"/><Relationship Id="rId9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26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7.emf"/><Relationship Id="rId17" Type="http://schemas.openxmlformats.org/officeDocument/2006/relationships/image" Target="../media/image9.png"/><Relationship Id="rId2" Type="http://schemas.openxmlformats.org/officeDocument/2006/relationships/tags" Target="../tags/tag121.xml"/><Relationship Id="rId16" Type="http://schemas.openxmlformats.org/officeDocument/2006/relationships/image" Target="../media/image33.png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oleObject" Target="../embeddings/oleObject6.bin"/><Relationship Id="rId5" Type="http://schemas.openxmlformats.org/officeDocument/2006/relationships/tags" Target="../tags/tag124.xml"/><Relationship Id="rId15" Type="http://schemas.openxmlformats.org/officeDocument/2006/relationships/tags" Target="../tags/tag127.xml"/><Relationship Id="rId10" Type="http://schemas.openxmlformats.org/officeDocument/2006/relationships/notesSlide" Target="../notesSlides/notesSlide12.xml"/><Relationship Id="rId4" Type="http://schemas.openxmlformats.org/officeDocument/2006/relationships/tags" Target="../tags/tag123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image" Target="../media/image34.png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12" Type="http://schemas.openxmlformats.org/officeDocument/2006/relationships/image" Target="../media/image7.emf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oleObject" Target="../embeddings/oleObject6.bin"/><Relationship Id="rId5" Type="http://schemas.openxmlformats.org/officeDocument/2006/relationships/tags" Target="../tags/tag133.xml"/><Relationship Id="rId15" Type="http://schemas.openxmlformats.org/officeDocument/2006/relationships/image" Target="../media/image9.png"/><Relationship Id="rId10" Type="http://schemas.openxmlformats.org/officeDocument/2006/relationships/notesSlide" Target="../notesSlides/notesSlide13.xml"/><Relationship Id="rId4" Type="http://schemas.openxmlformats.org/officeDocument/2006/relationships/tags" Target="../tags/tag132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image" Target="../media/image38.png"/><Relationship Id="rId3" Type="http://schemas.openxmlformats.org/officeDocument/2006/relationships/tags" Target="../tags/tag139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7.png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image" Target="../media/image36.png"/><Relationship Id="rId5" Type="http://schemas.openxmlformats.org/officeDocument/2006/relationships/tags" Target="../tags/tag141.xml"/><Relationship Id="rId15" Type="http://schemas.openxmlformats.org/officeDocument/2006/relationships/image" Target="../media/image9.png"/><Relationship Id="rId10" Type="http://schemas.openxmlformats.org/officeDocument/2006/relationships/image" Target="../media/image7.emf"/><Relationship Id="rId4" Type="http://schemas.openxmlformats.org/officeDocument/2006/relationships/tags" Target="../tags/tag140.xml"/><Relationship Id="rId9" Type="http://schemas.openxmlformats.org/officeDocument/2006/relationships/oleObject" Target="../embeddings/oleObject6.bin"/><Relationship Id="rId1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44.png"/><Relationship Id="rId3" Type="http://schemas.openxmlformats.org/officeDocument/2006/relationships/tags" Target="../tags/tag145.xml"/><Relationship Id="rId7" Type="http://schemas.openxmlformats.org/officeDocument/2006/relationships/oleObject" Target="../embeddings/oleObject6.bin"/><Relationship Id="rId12" Type="http://schemas.openxmlformats.org/officeDocument/2006/relationships/image" Target="../media/image43.png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notesSlide" Target="../notesSlides/notesSlide15.xml"/><Relationship Id="rId11" Type="http://schemas.openxmlformats.org/officeDocument/2006/relationships/image" Target="../media/image4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1.png"/><Relationship Id="rId4" Type="http://schemas.openxmlformats.org/officeDocument/2006/relationships/tags" Target="../tags/tag146.xml"/><Relationship Id="rId9" Type="http://schemas.openxmlformats.org/officeDocument/2006/relationships/image" Target="../media/image40.png"/><Relationship Id="rId1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image" Target="../media/image46.png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image" Target="../media/image45.emf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51.xml"/><Relationship Id="rId10" Type="http://schemas.openxmlformats.org/officeDocument/2006/relationships/notesSlide" Target="../notesSlides/notesSlide16.xml"/><Relationship Id="rId4" Type="http://schemas.openxmlformats.org/officeDocument/2006/relationships/tags" Target="../tags/tag150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62.xml"/><Relationship Id="rId13" Type="http://schemas.openxmlformats.org/officeDocument/2006/relationships/image" Target="../media/image47.emf"/><Relationship Id="rId3" Type="http://schemas.openxmlformats.org/officeDocument/2006/relationships/tags" Target="../tags/tag157.xml"/><Relationship Id="rId7" Type="http://schemas.openxmlformats.org/officeDocument/2006/relationships/tags" Target="../tags/tag161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tags" Target="../tags/tag160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15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58.xml"/><Relationship Id="rId9" Type="http://schemas.openxmlformats.org/officeDocument/2006/relationships/tags" Target="../tags/tag163.xml"/><Relationship Id="rId1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tags" Target="../tags/tag166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7.xml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3" Type="http://schemas.openxmlformats.org/officeDocument/2006/relationships/tags" Target="../tags/tag17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9.pn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tags" Target="../tags/tag173.xml"/><Relationship Id="rId11" Type="http://schemas.openxmlformats.org/officeDocument/2006/relationships/image" Target="../media/image48.png"/><Relationship Id="rId5" Type="http://schemas.openxmlformats.org/officeDocument/2006/relationships/tags" Target="../tags/tag172.xml"/><Relationship Id="rId10" Type="http://schemas.openxmlformats.org/officeDocument/2006/relationships/image" Target="../media/image45.emf"/><Relationship Id="rId4" Type="http://schemas.openxmlformats.org/officeDocument/2006/relationships/tags" Target="../tags/tag171.xml"/><Relationship Id="rId9" Type="http://schemas.openxmlformats.org/officeDocument/2006/relationships/oleObject" Target="../embeddings/oleObject11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tags" Target="../tags/tag176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tags" Target="../tags/tag177.xml"/><Relationship Id="rId9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tags" Target="../tags/tag180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tags" Target="../tags/tag181.xml"/><Relationship Id="rId9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tags" Target="../tags/tag184.xml"/><Relationship Id="rId7" Type="http://schemas.openxmlformats.org/officeDocument/2006/relationships/image" Target="../media/image45.emf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oleObject" Target="../embeddings/oleObject1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85.xml"/><Relationship Id="rId9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tags" Target="../tags/tag188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.png"/><Relationship Id="rId4" Type="http://schemas.openxmlformats.org/officeDocument/2006/relationships/tags" Target="../tags/tag189.xml"/><Relationship Id="rId9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tags" Target="../tags/tag192.xml"/><Relationship Id="rId7" Type="http://schemas.openxmlformats.org/officeDocument/2006/relationships/image" Target="../media/image45.emf"/><Relationship Id="rId2" Type="http://schemas.openxmlformats.org/officeDocument/2006/relationships/tags" Target="../tags/tag191.xml"/><Relationship Id="rId1" Type="http://schemas.openxmlformats.org/officeDocument/2006/relationships/tags" Target="../tags/tag190.xml"/><Relationship Id="rId6" Type="http://schemas.openxmlformats.org/officeDocument/2006/relationships/oleObject" Target="../embeddings/oleObject11.bin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3.xml"/><Relationship Id="rId9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201.xml"/><Relationship Id="rId13" Type="http://schemas.openxmlformats.org/officeDocument/2006/relationships/image" Target="../media/image9.png"/><Relationship Id="rId3" Type="http://schemas.openxmlformats.org/officeDocument/2006/relationships/tags" Target="../tags/tag196.xml"/><Relationship Id="rId7" Type="http://schemas.openxmlformats.org/officeDocument/2006/relationships/tags" Target="../tags/tag200.xml"/><Relationship Id="rId12" Type="http://schemas.openxmlformats.org/officeDocument/2006/relationships/image" Target="../media/image47.emf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198.xml"/><Relationship Id="rId10" Type="http://schemas.openxmlformats.org/officeDocument/2006/relationships/notesSlide" Target="../notesSlides/notesSlide23.xml"/><Relationship Id="rId4" Type="http://schemas.openxmlformats.org/officeDocument/2006/relationships/tags" Target="../tags/tag197.xml"/><Relationship Id="rId9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BEA6F-F155-70A5-5A62-8CDB76A72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0650B802-3E37-E668-7E9D-E2CFA940308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50B802-3E37-E668-7E9D-E2CFA9403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Subtitle 10">
            <a:extLst>
              <a:ext uri="{FF2B5EF4-FFF2-40B4-BE49-F238E27FC236}">
                <a16:creationId xmlns:a16="http://schemas.microsoft.com/office/drawing/2014/main" id="{4F2A9384-976C-2F64-4D60-C63A48A2C7F1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87852" y="3440951"/>
            <a:ext cx="3784147" cy="1029276"/>
          </a:xfrm>
        </p:spPr>
        <p:txBody>
          <a:bodyPr>
            <a:normAutofit fontScale="92500"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 noProof="1">
                <a:latin typeface="Aptos Light" panose="020B0004020202020204" pitchFamily="34" charset="0"/>
              </a:rPr>
              <a:t>Candidate</a:t>
            </a:r>
            <a:r>
              <a:rPr lang="en-US" sz="1500" noProof="1">
                <a:latin typeface="Aptos Light" panose="020B0004020202020204" pitchFamily="34" charset="0"/>
              </a:rPr>
              <a:t>: Volpato Mattia</a:t>
            </a:r>
          </a:p>
          <a:p>
            <a:r>
              <a:rPr lang="en-US" sz="1500" b="1" noProof="1">
                <a:latin typeface="Aptos Light" panose="020B0004020202020204" pitchFamily="34" charset="0"/>
              </a:rPr>
              <a:t>Supervisor</a:t>
            </a:r>
            <a:r>
              <a:rPr lang="en-US" sz="1500" noProof="1">
                <a:latin typeface="Aptos Light" panose="020B0004020202020204" pitchFamily="34" charset="0"/>
              </a:rPr>
              <a:t>: Prof. Michele Ciavotta</a:t>
            </a:r>
          </a:p>
          <a:p>
            <a:r>
              <a:rPr lang="en-US" sz="1500" b="1" noProof="1">
                <a:latin typeface="Aptos Light" panose="020B0004020202020204" pitchFamily="34" charset="0"/>
              </a:rPr>
              <a:t>Company Co-Supervisor</a:t>
            </a:r>
            <a:r>
              <a:rPr lang="en-US" sz="1500" noProof="1">
                <a:latin typeface="Aptos Light" panose="020B0004020202020204" pitchFamily="34" charset="0"/>
              </a:rPr>
              <a:t>: Eng. Bruno Puzzolante</a:t>
            </a:r>
          </a:p>
          <a:p>
            <a:endParaRPr lang="en-US" noProof="1">
              <a:solidFill>
                <a:schemeClr val="accent3"/>
              </a:solidFill>
              <a:latin typeface="Aptos Light" panose="020B0004020202020204" pitchFamily="34" charset="0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F7F1B92-FA81-C0E6-AFD3-AC6DA67C21D8}"/>
              </a:ext>
            </a:extLst>
          </p:cNvPr>
          <p:cNvSpPr>
            <a:spLocks noGrp="1"/>
          </p:cNvSpPr>
          <p:nvPr>
            <p:ph type="ctrTitle"/>
            <p:custDataLst>
              <p:tags r:id="rId4"/>
            </p:custDataLst>
          </p:nvPr>
        </p:nvSpPr>
        <p:spPr>
          <a:xfrm>
            <a:off x="787853" y="1612454"/>
            <a:ext cx="7568293" cy="1383839"/>
          </a:xfrm>
        </p:spPr>
        <p:txBody>
          <a:bodyPr lIns="68580" rIns="68580" bIns="34290">
            <a:normAutofit fontScale="90000"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900" b="1" noProof="1">
                <a:solidFill>
                  <a:srgbClr val="125E4B"/>
                </a:solidFill>
                <a:latin typeface="Aptos" panose="020B0004020202020204" pitchFamily="34" charset="0"/>
              </a:rPr>
              <a:t>Delay Prediction in Supply Chains:</a:t>
            </a:r>
            <a:br>
              <a:rPr lang="en-US" sz="3300" b="1" noProof="1">
                <a:solidFill>
                  <a:srgbClr val="125E4B"/>
                </a:solidFill>
                <a:latin typeface="Aptos" panose="020B0004020202020204" pitchFamily="34" charset="0"/>
              </a:rPr>
            </a:br>
            <a:r>
              <a:rPr lang="en-US" sz="3300" i="1" noProof="1">
                <a:solidFill>
                  <a:srgbClr val="125E4B"/>
                </a:solidFill>
                <a:latin typeface="Aptos" panose="020B0004020202020204" pitchFamily="34" charset="0"/>
              </a:rPr>
              <a:t>A Hybrid Graph-Based and </a:t>
            </a:r>
            <a:br>
              <a:rPr lang="en-US" sz="3300" i="1" noProof="1">
                <a:solidFill>
                  <a:srgbClr val="125E4B"/>
                </a:solidFill>
                <a:latin typeface="Aptos" panose="020B0004020202020204" pitchFamily="34" charset="0"/>
              </a:rPr>
            </a:br>
            <a:r>
              <a:rPr lang="en-US" sz="3300" i="1" noProof="1">
                <a:solidFill>
                  <a:srgbClr val="125E4B"/>
                </a:solidFill>
                <a:latin typeface="Aptos" panose="020B0004020202020204" pitchFamily="34" charset="0"/>
              </a:rPr>
              <a:t>Machine Learning Approach</a:t>
            </a:r>
          </a:p>
        </p:txBody>
      </p:sp>
      <p:sp>
        <p:nvSpPr>
          <p:cNvPr id="3" name="Subtitle 10">
            <a:extLst>
              <a:ext uri="{FF2B5EF4-FFF2-40B4-BE49-F238E27FC236}">
                <a16:creationId xmlns:a16="http://schemas.microsoft.com/office/drawing/2014/main" id="{C2A4F017-DC93-99B3-A1A2-7912D5AC88C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622595" y="3739228"/>
            <a:ext cx="2023384" cy="730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indent="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ClrTx/>
            </a:pPr>
            <a:r>
              <a:rPr lang="it-IT" sz="1500" noProof="1">
                <a:latin typeface="Aptos Light" panose="020B0004020202020204" pitchFamily="34" charset="0"/>
              </a:rPr>
              <a:t>Master degree</a:t>
            </a:r>
          </a:p>
          <a:p>
            <a:pPr algn="r">
              <a:buClrTx/>
            </a:pPr>
            <a:r>
              <a:rPr lang="it-IT" sz="1500" b="1" noProof="1">
                <a:latin typeface="Aptos Light" panose="020B0004020202020204" pitchFamily="34" charset="0"/>
              </a:rPr>
              <a:t>Computer Science</a:t>
            </a:r>
            <a:endParaRPr lang="en-US" sz="1500" b="1" noProof="1">
              <a:latin typeface="Aptos Light" panose="020B000402020202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9BC56246-7E1D-FB6F-E249-421F2E2AC0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4665" y="213692"/>
            <a:ext cx="842962" cy="9191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196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55EF6-5A56-A66B-E0DF-D7C20174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88D9A1A-A82A-E598-9679-A1864849CB2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8D9A1A-A82A-E598-9679-A1864849C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2316B8-EEE8-7FCD-F819-DDD74C3422AD}"/>
              </a:ext>
            </a:extLst>
          </p:cNvPr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42900" y="792834"/>
            <a:ext cx="8455914" cy="3930557"/>
          </a:xfrm>
        </p:spPr>
        <p:txBody>
          <a:bodyPr numCol="2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2666" indent="-285750">
              <a:buClr>
                <a:schemeClr val="accent1"/>
              </a:buClr>
            </a:pPr>
            <a:r>
              <a:rPr lang="en-US" sz="1400" b="1" noProof="1"/>
              <a:t>M4ESTRO Project Overview</a:t>
            </a:r>
            <a:endParaRPr lang="en-US" sz="1300" noProof="1"/>
          </a:p>
          <a:p>
            <a:pPr marL="604838" lvl="1" indent="-175022">
              <a:buClr>
                <a:schemeClr val="accent1"/>
              </a:buClr>
            </a:pPr>
            <a:r>
              <a:rPr lang="en-US" sz="1300" noProof="1"/>
              <a:t>Motivation &amp; Purpose
Key Contributions</a:t>
            </a:r>
          </a:p>
          <a:p>
            <a:pPr marL="261938" indent="-175022">
              <a:buClr>
                <a:schemeClr val="accent1"/>
              </a:buClr>
            </a:pPr>
            <a:r>
              <a:rPr lang="en-US" sz="1400" b="1" noProof="1"/>
              <a:t>Dataset &amp; External Sources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300" noProof="1"/>
              <a:t>Pilot and Tracking data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300" noProof="1"/>
              <a:t>Traffic, Weather and Holiday data</a:t>
            </a:r>
          </a:p>
          <a:p>
            <a:pPr marL="261938" indent="-175022">
              <a:buClr>
                <a:schemeClr val="accent1"/>
              </a:buClr>
            </a:pPr>
            <a:r>
              <a:rPr lang="en-US" sz="1400" b="1" noProof="1"/>
              <a:t>Supply Chain Modeling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300" noProof="1"/>
              <a:t>Supply Chain Graph Model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300" noProof="1"/>
              <a:t>Markov Chain Routing Model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300" noProof="1"/>
              <a:t>Paths Extraction and Probability Distributions</a:t>
            </a:r>
            <a:endParaRPr lang="en-US" noProof="1"/>
          </a:p>
          <a:p>
            <a:pPr marL="261938" indent="-175022">
              <a:buClr>
                <a:schemeClr val="accent1"/>
              </a:buClr>
            </a:pPr>
            <a:r>
              <a:rPr lang="en-US" sz="1400" b="1" noProof="1"/>
              <a:t>Historical Indicators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Definition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Implementation</a:t>
            </a:r>
          </a:p>
          <a:p>
            <a:pPr marL="261938" indent="-175022">
              <a:buClr>
                <a:schemeClr val="accent1"/>
              </a:buClr>
            </a:pPr>
            <a:endParaRPr lang="en-US" sz="1400" b="1" noProof="1"/>
          </a:p>
          <a:p>
            <a:pPr marL="261938" indent="-175022">
              <a:buClr>
                <a:schemeClr val="accent1"/>
              </a:buClr>
            </a:pPr>
            <a:r>
              <a:rPr lang="en-US" sz="1400" b="1" noProof="1"/>
              <a:t>Realtime Indicators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Overview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Definition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Implementation</a:t>
            </a:r>
          </a:p>
          <a:p>
            <a:pPr marL="261938" indent="-175022">
              <a:buClr>
                <a:schemeClr val="accent1"/>
              </a:buClr>
            </a:pPr>
            <a:r>
              <a:rPr lang="en-US" sz="1400" b="1" noProof="1"/>
              <a:t>Protoype &amp; Experimental Evaluation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Prototype Architecture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Evaluation Methodology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Quantitative Evaluation 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Sensitivity Analysis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Evolution of Shipment Estimates</a:t>
            </a:r>
            <a:endParaRPr lang="en-US" sz="1400" b="1" noProof="1"/>
          </a:p>
          <a:p>
            <a:pPr marL="261938" indent="-175022">
              <a:buClr>
                <a:schemeClr val="accent1"/>
              </a:buClr>
            </a:pPr>
            <a:r>
              <a:rPr lang="en-US" sz="1400" b="1" noProof="1"/>
              <a:t>Conclusion</a:t>
            </a:r>
          </a:p>
          <a:p>
            <a:pPr marL="604838" lvl="1" indent="-175022">
              <a:buClr>
                <a:schemeClr val="accent1"/>
              </a:buClr>
            </a:pPr>
            <a:r>
              <a:rPr lang="en-US" sz="1400" noProof="1"/>
              <a:t>Future Developments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F2B1D-3814-7AED-D61A-4EF6159C272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2900" y="325612"/>
            <a:ext cx="8455914" cy="370332"/>
          </a:xfrm>
        </p:spPr>
        <p:txBody>
          <a:bodyPr vert="horz" lIns="0" rIns="0" bIns="3429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>
                <a:solidFill>
                  <a:schemeClr val="accent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29658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EB6AE3-BD3E-FF03-AC80-8991E204E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614238"/>
            <a:ext cx="4947184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kern="1200" dirty="0">
                <a:solidFill>
                  <a:srgbClr val="FFFFFF"/>
                </a:solidFill>
                <a:ea typeface="+mj-ea"/>
                <a:cs typeface="+mj-cs"/>
              </a:rPr>
              <a:t>M4ESTRO Project Overview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387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252E-B8A8-CBB2-BCEE-7A4EB3147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BC862-44E0-450F-97C2-A0022FA64CBB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3385397" y="3368095"/>
            <a:ext cx="5358068" cy="754981"/>
          </a:xfrm>
          <a:prstGeom prst="rect">
            <a:avLst/>
          </a:prstGeom>
          <a:solidFill>
            <a:schemeClr val="bg2"/>
          </a:solidFill>
        </p:spPr>
        <p:txBody>
          <a:bodyPr vert="horz" lIns="68580" tIns="68580" rIns="6858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ClrTx/>
            </a:pPr>
            <a:r>
              <a:rPr lang="en-US" sz="1400" noProof="1">
                <a:solidFill>
                  <a:srgbClr val="125E4B"/>
                </a:solidFill>
              </a:rPr>
              <a:t>Industrial </a:t>
            </a:r>
            <a:r>
              <a:rPr lang="en-US" sz="1400" b="1" noProof="1">
                <a:solidFill>
                  <a:srgbClr val="125E4B"/>
                </a:solidFill>
              </a:rPr>
              <a:t>M</a:t>
            </a:r>
            <a:r>
              <a:rPr lang="en-US" sz="1400" noProof="1">
                <a:solidFill>
                  <a:srgbClr val="125E4B"/>
                </a:solidFill>
              </a:rPr>
              <a:t>anufacturing </a:t>
            </a:r>
            <a:r>
              <a:rPr lang="en-US" sz="1400" b="1" noProof="1">
                <a:solidFill>
                  <a:srgbClr val="125E4B"/>
                </a:solidFill>
              </a:rPr>
              <a:t>A</a:t>
            </a:r>
            <a:r>
              <a:rPr lang="en-US" sz="1400" noProof="1">
                <a:solidFill>
                  <a:srgbClr val="125E4B"/>
                </a:solidFill>
              </a:rPr>
              <a:t>s a s</a:t>
            </a:r>
            <a:r>
              <a:rPr lang="en-US" sz="1400" b="1" noProof="1">
                <a:solidFill>
                  <a:srgbClr val="125E4B"/>
                </a:solidFill>
              </a:rPr>
              <a:t>E</a:t>
            </a:r>
            <a:r>
              <a:rPr lang="en-US" sz="1400" noProof="1">
                <a:solidFill>
                  <a:srgbClr val="125E4B"/>
                </a:solidFill>
              </a:rPr>
              <a:t>rvice </a:t>
            </a:r>
            <a:r>
              <a:rPr lang="en-US" sz="1400" b="1" noProof="1">
                <a:solidFill>
                  <a:srgbClr val="125E4B"/>
                </a:solidFill>
              </a:rPr>
              <a:t>STR</a:t>
            </a:r>
            <a:r>
              <a:rPr lang="en-US" sz="1400" noProof="1">
                <a:solidFill>
                  <a:srgbClr val="125E4B"/>
                </a:solidFill>
              </a:rPr>
              <a:t>ategies and models for flexible, resilient, and re-configurable value networks through Trusted and Transparent </a:t>
            </a:r>
            <a:r>
              <a:rPr lang="en-US" sz="1400" b="1" noProof="1">
                <a:solidFill>
                  <a:srgbClr val="125E4B"/>
                </a:solidFill>
              </a:rPr>
              <a:t>O</a:t>
            </a:r>
            <a:r>
              <a:rPr lang="en-US" sz="1400" noProof="1">
                <a:solidFill>
                  <a:srgbClr val="125E4B"/>
                </a:solidFill>
              </a:rPr>
              <a:t>perations.</a:t>
            </a:r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FA70D54-793F-BAE0-0264-E121201229FA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A70D54-793F-BAE0-0264-E121201229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001709D-A6FA-5B1B-1F83-01121FE09754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44090" y="409323"/>
            <a:ext cx="8455914" cy="370332"/>
          </a:xfrm>
        </p:spPr>
        <p:txBody>
          <a:bodyPr vert="horz" lIns="0" tIns="34290" rIns="0" bIns="3429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Motivation &amp; Purpose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394D4F8-7D33-0AF5-B470-5F94B8FFD1E9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44090" y="224806"/>
            <a:ext cx="8455819" cy="218980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M4ESTRO Project OVERVIEW</a:t>
            </a:r>
          </a:p>
        </p:txBody>
      </p:sp>
      <p:sp>
        <p:nvSpPr>
          <p:cNvPr id="19" name="Google Shape;703;p114">
            <a:extLst>
              <a:ext uri="{FF2B5EF4-FFF2-40B4-BE49-F238E27FC236}">
                <a16:creationId xmlns:a16="http://schemas.microsoft.com/office/drawing/2014/main" id="{D7A388C2-5178-F8F6-FC2E-4B2696FA935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44089" y="1391215"/>
            <a:ext cx="2260317" cy="224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en-US" sz="1200" b="1" dirty="0"/>
              <a:t>Global</a:t>
            </a:r>
            <a:r>
              <a:rPr lang="en-US" sz="1200" dirty="0"/>
              <a:t> </a:t>
            </a:r>
            <a:r>
              <a:rPr lang="en-US" sz="1200" b="1" dirty="0"/>
              <a:t>disruptions</a:t>
            </a:r>
            <a:r>
              <a:rPr lang="en-US" sz="1200" dirty="0"/>
              <a:t> (pandemics, conflicts, climate events) expose the fragility of </a:t>
            </a:r>
            <a:r>
              <a:rPr lang="en-US" sz="1200" b="1" dirty="0"/>
              <a:t>manufacturers</a:t>
            </a:r>
            <a:r>
              <a:rPr lang="en-US" sz="1200" dirty="0"/>
              <a:t>’ </a:t>
            </a:r>
            <a:r>
              <a:rPr lang="en-US" sz="1200" b="1" dirty="0"/>
              <a:t>supply</a:t>
            </a:r>
            <a:r>
              <a:rPr lang="en-US" sz="1200" dirty="0"/>
              <a:t> </a:t>
            </a:r>
            <a:r>
              <a:rPr lang="en-US" sz="1200" b="1" dirty="0"/>
              <a:t>chains</a:t>
            </a:r>
            <a:r>
              <a:rPr lang="en-US" sz="1200" dirty="0"/>
              <a:t>.  </a:t>
            </a:r>
          </a:p>
          <a:p>
            <a:pPr>
              <a:spcAft>
                <a:spcPts val="600"/>
              </a:spcAft>
              <a:buClrTx/>
            </a:pPr>
            <a:endParaRPr lang="en-US" sz="1200" noProof="1"/>
          </a:p>
          <a:p>
            <a:pPr>
              <a:spcAft>
                <a:spcPts val="600"/>
              </a:spcAft>
              <a:buClrTx/>
            </a:pPr>
            <a:r>
              <a:rPr lang="en-US" sz="1200" b="1" dirty="0"/>
              <a:t>Resilience</a:t>
            </a:r>
            <a:r>
              <a:rPr lang="en-US" sz="1200" dirty="0"/>
              <a:t> and </a:t>
            </a:r>
            <a:r>
              <a:rPr lang="en-US" sz="1200" b="1" dirty="0"/>
              <a:t>adaptability</a:t>
            </a:r>
            <a:r>
              <a:rPr lang="en-US" sz="1200" dirty="0"/>
              <a:t> are now essential to ensure continuity and competitiveness.</a:t>
            </a:r>
            <a:endParaRPr lang="en-US" sz="1200" noProof="1"/>
          </a:p>
        </p:txBody>
      </p:sp>
      <p:sp>
        <p:nvSpPr>
          <p:cNvPr id="20" name="Google Shape;10527;p9415">
            <a:extLst>
              <a:ext uri="{FF2B5EF4-FFF2-40B4-BE49-F238E27FC236}">
                <a16:creationId xmlns:a16="http://schemas.microsoft.com/office/drawing/2014/main" id="{05B34B5C-F3DC-ABEA-D028-F144CEDF9F7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44089" y="964172"/>
            <a:ext cx="2260317" cy="330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Motivation</a:t>
            </a:r>
          </a:p>
        </p:txBody>
      </p:sp>
      <p:sp>
        <p:nvSpPr>
          <p:cNvPr id="9" name="Google Shape;703;p114">
            <a:extLst>
              <a:ext uri="{FF2B5EF4-FFF2-40B4-BE49-F238E27FC236}">
                <a16:creationId xmlns:a16="http://schemas.microsoft.com/office/drawing/2014/main" id="{4D466AA9-46EB-487D-C68A-3C9E2C1C7C1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441841" y="1391215"/>
            <a:ext cx="2260317" cy="224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b="1" dirty="0"/>
              <a:t>M4ESTRO</a:t>
            </a:r>
            <a:r>
              <a:rPr lang="en-US" sz="1200" dirty="0"/>
              <a:t> is a European project uniting </a:t>
            </a:r>
            <a:r>
              <a:rPr lang="en-US" sz="1200" b="1" dirty="0"/>
              <a:t>18 partners </a:t>
            </a:r>
            <a:r>
              <a:rPr lang="en-US" sz="1200" dirty="0"/>
              <a:t>from 8 countries, including industrial pilots, technology providers and research institutions.</a:t>
            </a:r>
          </a:p>
          <a:p>
            <a:pPr>
              <a:lnSpc>
                <a:spcPct val="110000"/>
              </a:lnSpc>
              <a:spcAft>
                <a:spcPts val="150"/>
              </a:spcAft>
            </a:pPr>
            <a:endParaRPr lang="en-US" sz="1200" dirty="0"/>
          </a:p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dirty="0"/>
              <a:t>Launched on 1 December 2023, </a:t>
            </a:r>
            <a:r>
              <a:rPr lang="en-US" sz="1200" b="1" dirty="0"/>
              <a:t>duration</a:t>
            </a:r>
            <a:r>
              <a:rPr lang="en-US" sz="1200" dirty="0"/>
              <a:t> of </a:t>
            </a:r>
            <a:r>
              <a:rPr lang="en-US" sz="1200" b="1" dirty="0"/>
              <a:t>42 months</a:t>
            </a:r>
            <a:r>
              <a:rPr lang="en-US" sz="1200" dirty="0"/>
              <a:t>.</a:t>
            </a:r>
            <a:endParaRPr lang="en-US" sz="1200" noProof="1"/>
          </a:p>
        </p:txBody>
      </p:sp>
      <p:sp>
        <p:nvSpPr>
          <p:cNvPr id="10" name="Google Shape;10527;p9415">
            <a:extLst>
              <a:ext uri="{FF2B5EF4-FFF2-40B4-BE49-F238E27FC236}">
                <a16:creationId xmlns:a16="http://schemas.microsoft.com/office/drawing/2014/main" id="{891D8F5C-6869-CC2D-4AD8-2D342924BFB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441841" y="964172"/>
            <a:ext cx="2260317" cy="330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Project</a:t>
            </a:r>
          </a:p>
        </p:txBody>
      </p:sp>
      <p:sp>
        <p:nvSpPr>
          <p:cNvPr id="11" name="Google Shape;703;p114">
            <a:extLst>
              <a:ext uri="{FF2B5EF4-FFF2-40B4-BE49-F238E27FC236}">
                <a16:creationId xmlns:a16="http://schemas.microsoft.com/office/drawing/2014/main" id="{FB858ED7-0553-CF0D-5733-57D46EA7CB6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6539592" y="1391215"/>
            <a:ext cx="2260317" cy="224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noProof="1"/>
              <a:t>Develop a resilient, transparent, and adaptive ecosystem under the </a:t>
            </a:r>
            <a:r>
              <a:rPr lang="en-US" sz="1200" b="1" noProof="1"/>
              <a:t>Manufacturing-as-a-Service (MaaS)</a:t>
            </a:r>
            <a:r>
              <a:rPr lang="en-US" sz="1200" noProof="1"/>
              <a:t> paradigm, enhancing supply chain flexibility and robustness.</a:t>
            </a:r>
          </a:p>
        </p:txBody>
      </p:sp>
      <p:sp>
        <p:nvSpPr>
          <p:cNvPr id="12" name="Google Shape;10527;p9415">
            <a:extLst>
              <a:ext uri="{FF2B5EF4-FFF2-40B4-BE49-F238E27FC236}">
                <a16:creationId xmlns:a16="http://schemas.microsoft.com/office/drawing/2014/main" id="{C5D7B991-1930-D77C-EF23-75A217CA3F47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539592" y="964172"/>
            <a:ext cx="2260317" cy="3308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Goals</a:t>
            </a:r>
          </a:p>
        </p:txBody>
      </p:sp>
      <p:pic>
        <p:nvPicPr>
          <p:cNvPr id="14" name="Picture 2" descr="M4estro - Holonix Research">
            <a:extLst>
              <a:ext uri="{FF2B5EF4-FFF2-40B4-BE49-F238E27FC236}">
                <a16:creationId xmlns:a16="http://schemas.microsoft.com/office/drawing/2014/main" id="{03043BEC-932D-C6E1-66B4-8F614ED8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98" b="31155"/>
          <a:stretch>
            <a:fillRect/>
          </a:stretch>
        </p:blipFill>
        <p:spPr bwMode="auto">
          <a:xfrm>
            <a:off x="399606" y="3533510"/>
            <a:ext cx="2036393" cy="598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34FB3A8-FAC6-5604-0EDF-E0E2C75EBFA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4ACA7BF-D611-4406-D14C-5E38FBFB5C6B}"/>
              </a:ext>
            </a:extLst>
          </p:cNvPr>
          <p:cNvSpPr txBox="1"/>
          <p:nvPr/>
        </p:nvSpPr>
        <p:spPr>
          <a:xfrm>
            <a:off x="344089" y="4219293"/>
            <a:ext cx="879991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This work has received funding from the Horizon Europe research and innovation </a:t>
            </a:r>
            <a:r>
              <a:rPr lang="en-US" sz="1050" dirty="0" err="1"/>
              <a:t>programme</a:t>
            </a:r>
            <a:r>
              <a:rPr lang="en-US" sz="1050" dirty="0"/>
              <a:t> under grant agreement No.101138506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840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AD76-15D9-0E05-1ABA-D176EF01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316493-2178-0345-7340-2CBF154BEC3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7772400" imgH="10058400" progId="TCLayout.ActiveDocument.1">
                  <p:embed/>
                </p:oleObj>
              </mc:Choice>
              <mc:Fallback>
                <p:oleObj name="think-cell Slide" r:id="rId11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316493-2178-0345-7340-2CBF154BE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ADF42A8-4AC3-0777-36D0-47F7222ECC1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Key Contributions</a:t>
            </a:r>
          </a:p>
        </p:txBody>
      </p:sp>
      <p:sp>
        <p:nvSpPr>
          <p:cNvPr id="13" name="Google Shape;703;p114">
            <a:extLst>
              <a:ext uri="{FF2B5EF4-FFF2-40B4-BE49-F238E27FC236}">
                <a16:creationId xmlns:a16="http://schemas.microsoft.com/office/drawing/2014/main" id="{A94A066C-B47A-7B9A-8034-FADB936DC50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0700" y="898731"/>
            <a:ext cx="5212773" cy="68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3429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400" noProof="1"/>
              <a:t>Supply Chain Modeling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endParaRPr lang="en-US" sz="1200" b="1" noProof="1"/>
          </a:p>
          <a:p>
            <a:pPr>
              <a:spcAft>
                <a:spcPts val="300"/>
              </a:spcAft>
            </a:pPr>
            <a:r>
              <a:rPr lang="en-US" sz="1200" b="1" noProof="1"/>
              <a:t>Mathematical</a:t>
            </a:r>
            <a:r>
              <a:rPr lang="en-US" sz="1200" noProof="1"/>
              <a:t> </a:t>
            </a:r>
            <a:r>
              <a:rPr lang="en-US" sz="1200" b="1" noProof="1"/>
              <a:t>framework</a:t>
            </a:r>
            <a:r>
              <a:rPr lang="en-US" sz="1200" noProof="1"/>
              <a:t> for modeling a single-manufacturer </a:t>
            </a:r>
            <a:r>
              <a:rPr lang="en-US" sz="1200" b="1" noProof="1"/>
              <a:t>supply</a:t>
            </a:r>
            <a:r>
              <a:rPr lang="en-US" sz="1200" noProof="1"/>
              <a:t> </a:t>
            </a:r>
            <a:r>
              <a:rPr lang="en-US" sz="1200" b="1" noProof="1"/>
              <a:t>chain</a:t>
            </a:r>
            <a:r>
              <a:rPr lang="en-US" sz="1200" noProof="1"/>
              <a:t>.</a:t>
            </a:r>
          </a:p>
        </p:txBody>
      </p:sp>
      <p:sp>
        <p:nvSpPr>
          <p:cNvPr id="17" name="Google Shape;703;p114">
            <a:extLst>
              <a:ext uri="{FF2B5EF4-FFF2-40B4-BE49-F238E27FC236}">
                <a16:creationId xmlns:a16="http://schemas.microsoft.com/office/drawing/2014/main" id="{AE993CA0-4428-F18A-5DAE-E74B6329686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51836" y="1926833"/>
            <a:ext cx="5230499" cy="1389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3429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400" noProof="1"/>
              <a:t>Indicators Design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endParaRPr lang="en-US" sz="1200" noProof="1"/>
          </a:p>
          <a:p>
            <a:pPr>
              <a:spcAft>
                <a:spcPts val="300"/>
              </a:spcAft>
            </a:pPr>
            <a:r>
              <a:rPr lang="en-US" sz="1200" noProof="1"/>
              <a:t>Indicators to quantify: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 noProof="1"/>
              <a:t>Dispatch</a:t>
            </a:r>
            <a:r>
              <a:rPr lang="en-US" sz="1200" noProof="1"/>
              <a:t> and </a:t>
            </a:r>
            <a:r>
              <a:rPr lang="en-US" sz="1200" b="1" noProof="1"/>
              <a:t>shipment process</a:t>
            </a:r>
            <a:r>
              <a:rPr lang="en-US" sz="1200" noProof="1"/>
              <a:t> </a:t>
            </a:r>
            <a:r>
              <a:rPr lang="en-US" sz="1200" b="1" noProof="1"/>
              <a:t>durations</a:t>
            </a:r>
            <a:r>
              <a:rPr lang="en-US" sz="1200" noProof="1"/>
              <a:t>.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Real-time</a:t>
            </a:r>
            <a:r>
              <a:rPr lang="en-US" sz="1200" dirty="0"/>
              <a:t> </a:t>
            </a:r>
            <a:r>
              <a:rPr lang="en-US" sz="1200" b="1" dirty="0"/>
              <a:t>traffic</a:t>
            </a:r>
            <a:r>
              <a:rPr lang="en-US" sz="1200" dirty="0"/>
              <a:t> and </a:t>
            </a:r>
            <a:r>
              <a:rPr lang="en-US" sz="1200" b="1" dirty="0"/>
              <a:t>weather</a:t>
            </a:r>
            <a:r>
              <a:rPr lang="en-US" sz="1200" dirty="0"/>
              <a:t> impacts on shipments</a:t>
            </a:r>
            <a:r>
              <a:rPr lang="en-US" sz="1200" noProof="1"/>
              <a:t>.</a:t>
            </a:r>
          </a:p>
          <a:p>
            <a:pPr marL="171450" indent="-171450">
              <a:lnSpc>
                <a:spcPct val="90000"/>
              </a:lnSpc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Effect of </a:t>
            </a:r>
            <a:r>
              <a:rPr lang="en-US" sz="1200" b="1" dirty="0"/>
              <a:t>national</a:t>
            </a:r>
            <a:r>
              <a:rPr lang="en-US" sz="1200" dirty="0"/>
              <a:t> </a:t>
            </a:r>
            <a:r>
              <a:rPr lang="en-US" sz="1200" b="1" dirty="0"/>
              <a:t>holidays</a:t>
            </a:r>
            <a:r>
              <a:rPr lang="en-US" sz="1200" dirty="0"/>
              <a:t> on dispatch processes</a:t>
            </a:r>
            <a:r>
              <a:rPr lang="en-US" sz="1200" noProof="1"/>
              <a:t>. 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3704EC4-7729-1A09-EA04-B29C752AEDF8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M4ESTRO Project OVERVIEW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6123185-6003-6136-FD0F-8894AA7C0AFE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6057900" y="0"/>
            <a:ext cx="3086099" cy="5143500"/>
          </a:xfrm>
          <a:prstGeom prst="rect">
            <a:avLst/>
          </a:prstGeom>
          <a:solidFill>
            <a:schemeClr val="bg2"/>
          </a:solidFill>
        </p:spPr>
        <p:txBody>
          <a:bodyPr vert="horz" lIns="342900" tIns="68580" rIns="27432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dirty="0">
                <a:solidFill>
                  <a:srgbClr val="125E4B"/>
                </a:solidFill>
              </a:rPr>
              <a:t>Disruption indicators</a:t>
            </a:r>
            <a:r>
              <a:rPr lang="en-US" sz="1400" dirty="0">
                <a:solidFill>
                  <a:srgbClr val="125E4B"/>
                </a:solidFill>
              </a:rPr>
              <a:t>: monitor operations, detect real-time anomalies, measure impacts and enable rapid responses.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sz="1400" dirty="0">
              <a:solidFill>
                <a:srgbClr val="125E4B"/>
              </a:solidFill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dirty="0">
                <a:solidFill>
                  <a:srgbClr val="125E4B"/>
                </a:solidFill>
              </a:rPr>
              <a:t>Task 1.2: design </a:t>
            </a:r>
            <a:r>
              <a:rPr lang="en-US" sz="1400" b="1" dirty="0">
                <a:solidFill>
                  <a:srgbClr val="125E4B"/>
                </a:solidFill>
              </a:rPr>
              <a:t>indicators</a:t>
            </a:r>
            <a:r>
              <a:rPr lang="en-US" sz="1400" dirty="0">
                <a:solidFill>
                  <a:srgbClr val="125E4B"/>
                </a:solidFill>
              </a:rPr>
              <a:t> to </a:t>
            </a:r>
            <a:r>
              <a:rPr lang="en-US" sz="1400" b="1" dirty="0">
                <a:solidFill>
                  <a:srgbClr val="125E4B"/>
                </a:solidFill>
              </a:rPr>
              <a:t>detect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internal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disruptions</a:t>
            </a:r>
            <a:r>
              <a:rPr lang="en-US" sz="1400" dirty="0">
                <a:solidFill>
                  <a:srgbClr val="125E4B"/>
                </a:solidFill>
              </a:rPr>
              <a:t>, within a </a:t>
            </a:r>
            <a:r>
              <a:rPr lang="en-US" sz="1400" b="1" dirty="0">
                <a:solidFill>
                  <a:srgbClr val="125E4B"/>
                </a:solidFill>
              </a:rPr>
              <a:t>single-manufacturer</a:t>
            </a:r>
            <a:r>
              <a:rPr lang="en-US" sz="1400" dirty="0">
                <a:solidFill>
                  <a:srgbClr val="125E4B"/>
                </a:solidFill>
              </a:rPr>
              <a:t> supply chain.</a:t>
            </a:r>
            <a:endParaRPr lang="en-US" altLang="en-US" sz="1400" dirty="0">
              <a:solidFill>
                <a:srgbClr val="125E4B"/>
              </a:solidFill>
              <a:latin typeface="Arial" panose="020B0604020202020204" pitchFamily="34" charset="0"/>
            </a:endParaRPr>
          </a:p>
        </p:txBody>
      </p:sp>
      <p:sp>
        <p:nvSpPr>
          <p:cNvPr id="4" name="Google Shape;703;p114">
            <a:extLst>
              <a:ext uri="{FF2B5EF4-FFF2-40B4-BE49-F238E27FC236}">
                <a16:creationId xmlns:a16="http://schemas.microsoft.com/office/drawing/2014/main" id="{29D769E2-91C4-772B-AB37-79FB7310F51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69562" y="3647023"/>
            <a:ext cx="5230499" cy="98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3429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Aft>
                <a:spcPts val="300"/>
              </a:spcAft>
            </a:pPr>
            <a:r>
              <a:rPr lang="en-US" sz="1400" noProof="1"/>
              <a:t>Prototype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endParaRPr lang="en-US" sz="1200" dirty="0"/>
          </a:p>
          <a:p>
            <a:pPr>
              <a:spcAft>
                <a:spcPts val="300"/>
              </a:spcAft>
            </a:pPr>
            <a:r>
              <a:rPr lang="en-US" sz="1200" dirty="0"/>
              <a:t>Development of a </a:t>
            </a:r>
            <a:r>
              <a:rPr lang="en-US" sz="1200" b="1" dirty="0"/>
              <a:t>prototype</a:t>
            </a:r>
            <a:r>
              <a:rPr lang="en-US" sz="1200" dirty="0"/>
              <a:t> using pilot partner data and </a:t>
            </a:r>
            <a:r>
              <a:rPr lang="en-US" sz="1200" b="1" dirty="0"/>
              <a:t>deployment</a:t>
            </a:r>
            <a:r>
              <a:rPr lang="en-US" sz="1200" dirty="0"/>
              <a:t> on AWS cloud infrastructure.</a:t>
            </a:r>
            <a:endParaRPr lang="en-US" sz="1200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5E44ED-59CB-F060-5B03-E0A41F3C1F1B}"/>
              </a:ext>
            </a:extLst>
          </p:cNvPr>
          <p:cNvCxnSpPr>
            <a:cxnSpLocks/>
          </p:cNvCxnSpPr>
          <p:nvPr/>
        </p:nvCxnSpPr>
        <p:spPr>
          <a:xfrm>
            <a:off x="560700" y="1752173"/>
            <a:ext cx="521277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B34886E-677E-FB0C-EA92-5AEEAA61E384}"/>
              </a:ext>
            </a:extLst>
          </p:cNvPr>
          <p:cNvCxnSpPr>
            <a:cxnSpLocks/>
          </p:cNvCxnSpPr>
          <p:nvPr/>
        </p:nvCxnSpPr>
        <p:spPr>
          <a:xfrm>
            <a:off x="560700" y="3481854"/>
            <a:ext cx="521277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52EF8A4-E9E3-1F27-D4A8-FCF646AB1D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1465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B973C-83B9-F491-7B96-2D8E187A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3C76896-6A9C-B58E-4E38-6957E8E3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D200BC-6D69-6A91-F437-2CD951771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EC4A72-5FF1-19CD-2009-578E3C927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AFEF3F-238F-A009-19EB-2E1FE47A2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B61951-ECF3-90FD-8204-D82571FD5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14EB54-43AC-0AA4-CBAC-857FB6A0D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614238"/>
            <a:ext cx="4947184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</a:rPr>
              <a:t>Dataset &amp; External Sources 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27224B-2318-0CC5-E5CA-4EBCF3669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E38A21-1D3C-AEDD-7F43-3C654159D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7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113AB-884C-840A-2542-C4602454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12">
            <a:extLst>
              <a:ext uri="{FF2B5EF4-FFF2-40B4-BE49-F238E27FC236}">
                <a16:creationId xmlns:a16="http://schemas.microsoft.com/office/drawing/2014/main" id="{2C5D90BC-B8B9-D081-A6C9-784537D7EFC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16"/>
          <a:srcRect l="9767" r="9767"/>
          <a:stretch/>
        </p:blipFill>
        <p:spPr>
          <a:xfrm>
            <a:off x="720011" y="1287580"/>
            <a:ext cx="1669669" cy="1557131"/>
          </a:xfrm>
          <a:prstGeom prst="rect">
            <a:avLst/>
          </a:prstGeom>
        </p:spPr>
      </p:pic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839E48B7-DC7D-4F29-B99A-DBDB7F2F7B6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7"/>
          <a:srcRect t="3370" b="3370"/>
          <a:stretch/>
        </p:blipFill>
        <p:spPr>
          <a:xfrm>
            <a:off x="3477861" y="1162703"/>
            <a:ext cx="1882226" cy="1755361"/>
          </a:xfrm>
          <a:prstGeom prst="rect">
            <a:avLst/>
          </a:prstGeom>
        </p:spPr>
      </p:pic>
      <p:pic>
        <p:nvPicPr>
          <p:cNvPr id="6" name="Picture Placeholder 12">
            <a:extLst>
              <a:ext uri="{FF2B5EF4-FFF2-40B4-BE49-F238E27FC236}">
                <a16:creationId xmlns:a16="http://schemas.microsoft.com/office/drawing/2014/main" id="{4DF847E9-FEEE-CB38-76E5-0AD31970727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8"/>
          <a:srcRect t="3370" b="3370"/>
          <a:stretch/>
        </p:blipFill>
        <p:spPr>
          <a:xfrm>
            <a:off x="6493823" y="1188464"/>
            <a:ext cx="1882226" cy="1755361"/>
          </a:xfrm>
          <a:prstGeom prst="rect">
            <a:avLst/>
          </a:prstGeom>
        </p:spPr>
      </p:pic>
      <p:sp>
        <p:nvSpPr>
          <p:cNvPr id="8" name="Google Shape;10527;p9415">
            <a:extLst>
              <a:ext uri="{FF2B5EF4-FFF2-40B4-BE49-F238E27FC236}">
                <a16:creationId xmlns:a16="http://schemas.microsoft.com/office/drawing/2014/main" id="{F9041267-76FA-D1C8-B31B-F4B280802F6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725755" y="1048312"/>
            <a:ext cx="1618369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Pilot Order Data</a:t>
            </a:r>
          </a:p>
        </p:txBody>
      </p:sp>
      <p:sp>
        <p:nvSpPr>
          <p:cNvPr id="21" name="Google Shape;10527;p9415">
            <a:extLst>
              <a:ext uri="{FF2B5EF4-FFF2-40B4-BE49-F238E27FC236}">
                <a16:creationId xmlns:a16="http://schemas.microsoft.com/office/drawing/2014/main" id="{3ADAF5CD-4415-63F4-1474-0EFA21455F7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523415" y="1048312"/>
            <a:ext cx="183667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Carrier Tracking Data</a:t>
            </a:r>
          </a:p>
        </p:txBody>
      </p:sp>
      <p:sp>
        <p:nvSpPr>
          <p:cNvPr id="26" name="Google Shape;10527;p9415">
            <a:extLst>
              <a:ext uri="{FF2B5EF4-FFF2-40B4-BE49-F238E27FC236}">
                <a16:creationId xmlns:a16="http://schemas.microsoft.com/office/drawing/2014/main" id="{E4706407-616B-B77B-68E5-08B70914F09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539377" y="1048312"/>
            <a:ext cx="183667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Geographical Data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4629A5A-FCEA-F23F-D5BF-BEEBCF2F8938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342900" y="411480"/>
            <a:ext cx="8455914" cy="371475"/>
          </a:xfrm>
        </p:spPr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Pilot and Tracking Data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E4F112-4AD8-316A-F6AE-633E5C19D0E3}"/>
              </a:ext>
            </a:extLst>
          </p:cNvPr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404303" y="2759284"/>
            <a:ext cx="2536938" cy="1022054"/>
          </a:xfrm>
          <a:noFill/>
          <a:ln>
            <a:noFill/>
          </a:ln>
        </p:spPr>
        <p:txBody>
          <a:bodyPr spcFirstLastPara="1" wrap="square" lIns="0" tIns="68580" rIns="68580" bIns="3429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/>
              <a:t>FAE Technology</a:t>
            </a:r>
            <a:r>
              <a:rPr lang="en-US" sz="1200" dirty="0"/>
              <a:t>, core dataset provider:  </a:t>
            </a:r>
            <a:r>
              <a:rPr lang="en-US" sz="1200" i="1" dirty="0"/>
              <a:t>one-hundred </a:t>
            </a:r>
            <a:r>
              <a:rPr lang="en-US" sz="1200" dirty="0"/>
              <a:t>order</a:t>
            </a:r>
            <a:r>
              <a:rPr lang="en-US" sz="1200" i="1" dirty="0"/>
              <a:t> records </a:t>
            </a:r>
            <a:r>
              <a:rPr lang="en-US" sz="1200" dirty="0"/>
              <a:t>with supplier locations, timestamps and tracking links.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2DF9DA3-3B8B-89A6-8461-9CFADD2C8C6A}"/>
              </a:ext>
            </a:extLst>
          </p:cNvPr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3400652" y="2762134"/>
            <a:ext cx="2427639" cy="1022054"/>
          </a:xfrm>
          <a:noFill/>
          <a:ln>
            <a:noFill/>
          </a:ln>
        </p:spPr>
        <p:txBody>
          <a:bodyPr spcFirstLastPara="1" vert="horz" wrap="square" lIns="0" tIns="68580" rIns="68580" bIns="34290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/>
              <a:t>17Track API</a:t>
            </a:r>
            <a:r>
              <a:rPr lang="en-US" sz="1200" dirty="0"/>
              <a:t> to retrieve </a:t>
            </a:r>
            <a:r>
              <a:rPr lang="en-US" sz="1200" i="1" dirty="0"/>
              <a:t>shipment events</a:t>
            </a:r>
            <a:r>
              <a:rPr lang="en-US" sz="1200" dirty="0"/>
              <a:t> across multiple carriers, including </a:t>
            </a:r>
            <a:r>
              <a:rPr lang="en-US" sz="1200" i="1" dirty="0"/>
              <a:t>location</a:t>
            </a:r>
            <a:r>
              <a:rPr lang="en-US" sz="1200" dirty="0"/>
              <a:t>, </a:t>
            </a:r>
            <a:r>
              <a:rPr lang="en-US" sz="1200" i="1" dirty="0"/>
              <a:t>timestamp</a:t>
            </a:r>
            <a:r>
              <a:rPr lang="en-US" sz="1200" dirty="0"/>
              <a:t>, and </a:t>
            </a:r>
            <a:r>
              <a:rPr lang="en-US" sz="1200" i="1" dirty="0"/>
              <a:t>status</a:t>
            </a:r>
            <a:r>
              <a:rPr lang="en-US" sz="1200" dirty="0"/>
              <a:t>.</a:t>
            </a:r>
            <a:endParaRPr lang="en-US" sz="12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62B3103-45FD-08E3-4121-98B691200FFA}"/>
              </a:ext>
            </a:extLst>
          </p:cNvPr>
          <p:cNvSpPr>
            <a:spLocks noGrp="1"/>
          </p:cNvSpPr>
          <p:nvPr>
            <p:ph sz="half" idx="16"/>
            <p:custDataLst>
              <p:tags r:id="rId11"/>
            </p:custDataLst>
          </p:nvPr>
        </p:nvSpPr>
        <p:spPr>
          <a:xfrm>
            <a:off x="6514064" y="2748911"/>
            <a:ext cx="2266115" cy="1022054"/>
          </a:xfrm>
          <a:noFill/>
          <a:ln>
            <a:noFill/>
          </a:ln>
        </p:spPr>
        <p:txBody>
          <a:bodyPr spcFirstLastPara="1" vert="horz" wrap="square" lIns="0" tIns="68580" rIns="68580" bIns="34290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 err="1"/>
              <a:t>Geonames</a:t>
            </a:r>
            <a:r>
              <a:rPr lang="en-US" sz="1200" b="1" dirty="0"/>
              <a:t> API </a:t>
            </a:r>
            <a:r>
              <a:rPr lang="en-US" sz="1200" dirty="0"/>
              <a:t>to</a:t>
            </a:r>
            <a:r>
              <a:rPr lang="en-US" sz="1200" b="1" dirty="0"/>
              <a:t> </a:t>
            </a:r>
            <a:r>
              <a:rPr lang="en-US" sz="1200" dirty="0"/>
              <a:t>standardize shipment events and supplier locations at a </a:t>
            </a:r>
            <a:r>
              <a:rPr lang="en-US" sz="1200" i="1" dirty="0"/>
              <a:t>city level.</a:t>
            </a:r>
            <a:endParaRPr lang="en-US" sz="12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961A0E9-36B0-5AEC-0AEC-05CDA9FCB2D0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Dataset &amp; EXTERNAL SOURCES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FE0237E-07B0-095F-CCC5-416010814B23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>
          <a:xfrm>
            <a:off x="342900" y="3882005"/>
            <a:ext cx="8509000" cy="463153"/>
          </a:xfrm>
          <a:prstGeom prst="rect">
            <a:avLst/>
          </a:prstGeom>
          <a:solidFill>
            <a:schemeClr val="bg2"/>
          </a:solidFill>
        </p:spPr>
        <p:txBody>
          <a:bodyPr vert="horz" lIns="68580" tIns="68580" rIns="6858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4">
              <a:lnSpc>
                <a:spcPct val="110000"/>
              </a:lnSpc>
            </a:pPr>
            <a:r>
              <a:rPr lang="en-US" sz="1400" dirty="0">
                <a:solidFill>
                  <a:srgbClr val="125E4B"/>
                </a:solidFill>
              </a:rPr>
              <a:t>Three sources forming the </a:t>
            </a:r>
            <a:r>
              <a:rPr lang="en-US" sz="1400" b="1" dirty="0">
                <a:solidFill>
                  <a:srgbClr val="125E4B"/>
                </a:solidFill>
              </a:rPr>
              <a:t>core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dataset</a:t>
            </a:r>
            <a:r>
              <a:rPr lang="en-US" sz="1400" dirty="0">
                <a:solidFill>
                  <a:srgbClr val="125E4B"/>
                </a:solidFill>
              </a:rPr>
              <a:t>, providing the foundational data that captures the </a:t>
            </a:r>
            <a:r>
              <a:rPr lang="en-US" sz="1400" b="1" dirty="0">
                <a:solidFill>
                  <a:srgbClr val="125E4B"/>
                </a:solidFill>
              </a:rPr>
              <a:t>supply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chain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structure</a:t>
            </a:r>
            <a:r>
              <a:rPr lang="en-US" sz="1400" dirty="0">
                <a:solidFill>
                  <a:srgbClr val="125E4B"/>
                </a:solidFill>
              </a:rPr>
              <a:t>.</a:t>
            </a:r>
            <a:endParaRPr lang="en-US" sz="1400" noProof="1">
              <a:solidFill>
                <a:srgbClr val="125E4B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6D5D6E-F3DF-0646-2903-E3D95256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E542212-AC39-8C8F-C5B2-4F51B657BCC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565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A15CD-96BD-BBA3-7A42-AC553F572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69D1DD2-6038-D2BD-9AD6-5B5EC5A3E691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900" y="411480"/>
            <a:ext cx="8455914" cy="371475"/>
          </a:xfrm>
        </p:spPr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Traffic, Weather and Holiday Data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284CDA0-4916-BF50-28B2-8A6EA11CB044}"/>
              </a:ext>
            </a:extLst>
          </p:cNvPr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84062" y="2835937"/>
            <a:ext cx="2474484" cy="1022054"/>
          </a:xfrm>
          <a:noFill/>
          <a:ln>
            <a:noFill/>
          </a:ln>
        </p:spPr>
        <p:txBody>
          <a:bodyPr spcFirstLastPara="1" wrap="square" lIns="0" tIns="68580" rIns="68580" bIns="3429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/>
              <a:t>TomTom API </a:t>
            </a:r>
            <a:r>
              <a:rPr lang="en-US" sz="1200" dirty="0"/>
              <a:t>to retrieve </a:t>
            </a:r>
            <a:r>
              <a:rPr lang="en-US" sz="1200" i="1" dirty="0"/>
              <a:t>road</a:t>
            </a:r>
            <a:r>
              <a:rPr lang="en-US" sz="1200" dirty="0"/>
              <a:t> </a:t>
            </a:r>
            <a:r>
              <a:rPr lang="en-US" sz="1200" i="1" dirty="0"/>
              <a:t>traffic</a:t>
            </a:r>
            <a:r>
              <a:rPr lang="en-US" sz="1200" dirty="0"/>
              <a:t> data, comparing ideal vs real-time conditions between two locations.</a:t>
            </a:r>
            <a:endParaRPr lang="en-US" sz="12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0130E7E-B23C-FEE2-F3AA-A9C91BDF5EFA}"/>
              </a:ext>
            </a:extLst>
          </p:cNvPr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77861" y="2840210"/>
            <a:ext cx="2375587" cy="1022054"/>
          </a:xfrm>
          <a:noFill/>
          <a:ln>
            <a:noFill/>
          </a:ln>
        </p:spPr>
        <p:txBody>
          <a:bodyPr spcFirstLastPara="1" vert="horz" wrap="square" lIns="0" tIns="68580" rIns="68580" bIns="34290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/>
              <a:t>Visual Crossing API </a:t>
            </a:r>
            <a:r>
              <a:rPr lang="en-US" sz="1200" dirty="0"/>
              <a:t>to retrieve </a:t>
            </a:r>
            <a:r>
              <a:rPr lang="en-US" sz="1200" i="1" dirty="0"/>
              <a:t>weather</a:t>
            </a:r>
            <a:r>
              <a:rPr lang="en-US" sz="1200" dirty="0"/>
              <a:t> data, providing real-time conditions for any location.</a:t>
            </a:r>
            <a:endParaRPr lang="en-US" sz="12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7959758-DAF0-24C0-671C-3BE67176F7E2}"/>
              </a:ext>
            </a:extLst>
          </p:cNvPr>
          <p:cNvSpPr>
            <a:spLocks noGrp="1"/>
          </p:cNvSpPr>
          <p:nvPr>
            <p:ph sz="half" idx="16"/>
            <p:custDataLst>
              <p:tags r:id="rId5"/>
            </p:custDataLst>
          </p:nvPr>
        </p:nvSpPr>
        <p:spPr>
          <a:xfrm>
            <a:off x="6493823" y="2825564"/>
            <a:ext cx="2266115" cy="1022054"/>
          </a:xfrm>
          <a:noFill/>
          <a:ln>
            <a:noFill/>
          </a:ln>
        </p:spPr>
        <p:txBody>
          <a:bodyPr spcFirstLastPara="1" vert="horz" wrap="square" lIns="0" tIns="68580" rIns="68580" bIns="34290" rtlCol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00" b="1" dirty="0" err="1"/>
              <a:t>Calendarific</a:t>
            </a:r>
            <a:r>
              <a:rPr lang="en-US" sz="1200" dirty="0"/>
              <a:t> </a:t>
            </a:r>
            <a:r>
              <a:rPr lang="en-US" sz="1200" b="1" dirty="0"/>
              <a:t>API </a:t>
            </a:r>
            <a:r>
              <a:rPr lang="en-US" sz="1200" dirty="0"/>
              <a:t>to retrieve </a:t>
            </a:r>
            <a:r>
              <a:rPr lang="en-US" sz="1200" i="1" dirty="0"/>
              <a:t>national</a:t>
            </a:r>
            <a:r>
              <a:rPr lang="en-US" sz="1200" dirty="0"/>
              <a:t> </a:t>
            </a:r>
            <a:r>
              <a:rPr lang="en-US" sz="1200" i="1" dirty="0"/>
              <a:t>holidays</a:t>
            </a:r>
            <a:r>
              <a:rPr lang="en-US" sz="1200" dirty="0"/>
              <a:t> worldwide, providing indications on supplier closures.</a:t>
            </a:r>
            <a:endParaRPr lang="en-US" sz="1200" dirty="0">
              <a:solidFill>
                <a:schemeClr val="tx2"/>
              </a:solidFill>
              <a:cs typeface="+mn-cs"/>
            </a:endParaRPr>
          </a:p>
        </p:txBody>
      </p:sp>
      <p:pic>
        <p:nvPicPr>
          <p:cNvPr id="4" name="Picture Placeholder 12">
            <a:extLst>
              <a:ext uri="{FF2B5EF4-FFF2-40B4-BE49-F238E27FC236}">
                <a16:creationId xmlns:a16="http://schemas.microsoft.com/office/drawing/2014/main" id="{75BE2720-E46F-B8DF-FBA4-5CB49C702FD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6"/>
          <a:srcRect t="3" b="3"/>
          <a:stretch/>
        </p:blipFill>
        <p:spPr>
          <a:xfrm>
            <a:off x="720011" y="1177513"/>
            <a:ext cx="1669669" cy="1557131"/>
          </a:xfrm>
          <a:prstGeom prst="rect">
            <a:avLst/>
          </a:prstGeom>
        </p:spPr>
      </p:pic>
      <p:pic>
        <p:nvPicPr>
          <p:cNvPr id="5" name="Picture Placeholder 12">
            <a:extLst>
              <a:ext uri="{FF2B5EF4-FFF2-40B4-BE49-F238E27FC236}">
                <a16:creationId xmlns:a16="http://schemas.microsoft.com/office/drawing/2014/main" id="{EB03D4AA-1B85-F2FF-6D90-259189D3E7A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7"/>
          <a:srcRect l="104" r="104"/>
          <a:stretch/>
        </p:blipFill>
        <p:spPr>
          <a:xfrm>
            <a:off x="3627941" y="1235319"/>
            <a:ext cx="1520465" cy="1417984"/>
          </a:xfrm>
          <a:prstGeom prst="rect">
            <a:avLst/>
          </a:prstGeom>
        </p:spPr>
      </p:pic>
      <p:pic>
        <p:nvPicPr>
          <p:cNvPr id="6" name="Picture Placeholder 12">
            <a:extLst>
              <a:ext uri="{FF2B5EF4-FFF2-40B4-BE49-F238E27FC236}">
                <a16:creationId xmlns:a16="http://schemas.microsoft.com/office/drawing/2014/main" id="{D58536C3-D5C2-3215-D98D-6D5CBFC3841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8"/>
          <a:srcRect t="132" b="132"/>
          <a:stretch/>
        </p:blipFill>
        <p:spPr>
          <a:xfrm>
            <a:off x="6568861" y="1077340"/>
            <a:ext cx="1777702" cy="1657882"/>
          </a:xfrm>
          <a:prstGeom prst="rect">
            <a:avLst/>
          </a:prstGeom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53DCCD2-51A1-36E4-6B1E-4351A0EB923C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Dataset &amp; EXTERNAL SOURCES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3CF82D-911A-DEA9-3E99-83FF985689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2026" y="2534606"/>
            <a:ext cx="1592293" cy="3143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6EE7F-876A-1251-E0C4-D0B2A8356B8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2877" y="2486715"/>
            <a:ext cx="1669669" cy="38304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BE63A5-106F-80C5-FF9A-C7888C83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4B2D-25FF-0B46-98A4-87FBB723E472}" type="slidenum">
              <a:rPr lang="en-US" smtClean="0"/>
              <a:t>8</a:t>
            </a:fld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07C4F0-93C0-86A0-CA5A-DAF2A82C0BE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321469" y="3913715"/>
            <a:ext cx="8509000" cy="463153"/>
          </a:xfrm>
          <a:prstGeom prst="rect">
            <a:avLst/>
          </a:prstGeom>
          <a:solidFill>
            <a:schemeClr val="bg2"/>
          </a:solidFill>
        </p:spPr>
        <p:txBody>
          <a:bodyPr vert="horz" lIns="68580" tIns="68580" rIns="6858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7144">
              <a:lnSpc>
                <a:spcPct val="110000"/>
              </a:lnSpc>
            </a:pPr>
            <a:r>
              <a:rPr lang="en-US" sz="1400" dirty="0">
                <a:solidFill>
                  <a:srgbClr val="125E4B"/>
                </a:solidFill>
              </a:rPr>
              <a:t>Three </a:t>
            </a:r>
            <a:r>
              <a:rPr lang="en-US" sz="1400" b="1" dirty="0">
                <a:solidFill>
                  <a:srgbClr val="125E4B"/>
                </a:solidFill>
              </a:rPr>
              <a:t>complementary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sources</a:t>
            </a:r>
            <a:r>
              <a:rPr lang="en-US" sz="1400" dirty="0">
                <a:solidFill>
                  <a:srgbClr val="125E4B"/>
                </a:solidFill>
              </a:rPr>
              <a:t> enrich the core dataset, providing a </a:t>
            </a:r>
            <a:r>
              <a:rPr lang="en-US" sz="1400" b="1" dirty="0">
                <a:solidFill>
                  <a:srgbClr val="125E4B"/>
                </a:solidFill>
              </a:rPr>
              <a:t>complete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representation</a:t>
            </a:r>
            <a:r>
              <a:rPr lang="en-US" sz="1400" dirty="0">
                <a:solidFill>
                  <a:srgbClr val="125E4B"/>
                </a:solidFill>
              </a:rPr>
              <a:t> of the supply chain.</a:t>
            </a:r>
            <a:endParaRPr lang="en-US" sz="1400" noProof="1">
              <a:solidFill>
                <a:srgbClr val="125E4B"/>
              </a:solidFill>
            </a:endParaRPr>
          </a:p>
        </p:txBody>
      </p:sp>
      <p:sp>
        <p:nvSpPr>
          <p:cNvPr id="19" name="Google Shape;10527;p9415">
            <a:extLst>
              <a:ext uri="{FF2B5EF4-FFF2-40B4-BE49-F238E27FC236}">
                <a16:creationId xmlns:a16="http://schemas.microsoft.com/office/drawing/2014/main" id="{06C20654-EAA3-057E-7DD9-468E709FD51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25755" y="938245"/>
            <a:ext cx="1618369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Traffic Data</a:t>
            </a:r>
          </a:p>
        </p:txBody>
      </p:sp>
      <p:sp>
        <p:nvSpPr>
          <p:cNvPr id="20" name="Google Shape;10527;p9415">
            <a:extLst>
              <a:ext uri="{FF2B5EF4-FFF2-40B4-BE49-F238E27FC236}">
                <a16:creationId xmlns:a16="http://schemas.microsoft.com/office/drawing/2014/main" id="{AFF08CF2-0B70-9BCA-1AB2-EE35AB44A0EA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3523415" y="938245"/>
            <a:ext cx="183667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Weather Data</a:t>
            </a:r>
          </a:p>
        </p:txBody>
      </p:sp>
      <p:sp>
        <p:nvSpPr>
          <p:cNvPr id="21" name="Google Shape;10527;p9415">
            <a:extLst>
              <a:ext uri="{FF2B5EF4-FFF2-40B4-BE49-F238E27FC236}">
                <a16:creationId xmlns:a16="http://schemas.microsoft.com/office/drawing/2014/main" id="{AC9976C0-266A-4552-D26A-80AD071D7B58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539377" y="938245"/>
            <a:ext cx="183667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Holiday Data</a:t>
            </a:r>
          </a:p>
        </p:txBody>
      </p:sp>
      <p:pic>
        <p:nvPicPr>
          <p:cNvPr id="13" name="Picture 1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24B53776-3171-89FB-0087-B7FC471E582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85341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C1EED9-39A5-D0CB-7B65-17BBD706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7CF3A20-74A0-B286-93E7-E7107BED0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977E95-43D5-419C-7051-6CB815B01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684EBE-C296-8FE4-3AC5-F296BAB8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B97C6B-8093-6D77-8ACD-FB1520633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C5DA491-D201-F3AE-41C8-596E94A78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BA953E-A469-3684-CC06-61C70583E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618" y="614238"/>
            <a:ext cx="4597714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</a:rPr>
              <a:t>Supply Chain Modeling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AED0BD-BAB1-0FA8-780C-E6EC3DDBD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64B032-AEC3-B73F-3CEB-5775A3DD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19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C518-36AB-127E-C3FB-0263DE076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0D7C5AB-DBA6-D1CE-362B-C0567296D94B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29250" y="2485350"/>
            <a:ext cx="3452462" cy="1822437"/>
          </a:xfrm>
          <a:prstGeom prst="rect">
            <a:avLst/>
          </a:prstGeom>
          <a:solidFill>
            <a:schemeClr val="bg2"/>
          </a:solidFill>
        </p:spPr>
        <p:txBody>
          <a:bodyPr vert="horz" lIns="342900" tIns="68580" rIns="27432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en-US" sz="1200" noProof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39FD02D-7919-148C-4F63-0118573ADAD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5429250" y="602818"/>
            <a:ext cx="3452462" cy="1744175"/>
          </a:xfrm>
          <a:prstGeom prst="rect">
            <a:avLst/>
          </a:prstGeom>
          <a:solidFill>
            <a:schemeClr val="bg2"/>
          </a:solidFill>
        </p:spPr>
        <p:txBody>
          <a:bodyPr vert="horz" lIns="342900" tIns="68580" rIns="27432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en-US" sz="1200" noProof="1">
              <a:solidFill>
                <a:schemeClr val="accent2">
                  <a:lumMod val="50000"/>
                </a:schemeClr>
              </a:solidFill>
            </a:endParaRP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0F01E98-25D4-4D14-A9D4-7BCD1589254D}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7772400" imgH="10058400" progId="TCLayout.ActiveDocument.1">
                  <p:embed/>
                </p:oleObj>
              </mc:Choice>
              <mc:Fallback>
                <p:oleObj name="think-cell Slide" r:id="rId1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F01E98-25D4-4D14-A9D4-7BCD158925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935A64D-9349-7E81-5C1B-A95EDCD3FA04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Supply Chain Graph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703;p114">
                <a:extLst>
                  <a:ext uri="{FF2B5EF4-FFF2-40B4-BE49-F238E27FC236}">
                    <a16:creationId xmlns:a16="http://schemas.microsoft.com/office/drawing/2014/main" id="{2C6AAF22-8B83-97B5-9075-8E66A8CB780C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513713" y="621865"/>
                <a:ext cx="3234354" cy="18505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80" tIns="68580" rIns="68580" bIns="6858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5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Directed Acyclic Graph (</a:t>
                </a:r>
                <a:r>
                  <a:rPr lang="en-US" sz="1200" b="1" i="1" noProof="1">
                    <a:solidFill>
                      <a:srgbClr val="125E4B"/>
                    </a:solidFill>
                  </a:rPr>
                  <a:t>DAG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)</a:t>
                </a:r>
              </a:p>
              <a:p>
                <a:pPr>
                  <a:lnSpc>
                    <a:spcPct val="200000"/>
                  </a:lnSpc>
                  <a:spcAft>
                    <a:spcPts val="15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Vertices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partitioned into: </a:t>
                </a:r>
              </a:p>
              <a:p>
                <a:pPr marL="514350" lvl="1" indent="-171450"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Supplier sites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(sources).</a:t>
                </a:r>
              </a:p>
              <a:p>
                <a:pPr marL="514350" lvl="1" indent="-171450"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Intermediate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facilities.</a:t>
                </a:r>
              </a:p>
              <a:p>
                <a:pPr marL="514350" lvl="1" indent="-171450"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Manufacturer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(sink).</a:t>
                </a:r>
              </a:p>
              <a:p>
                <a:pPr marL="514350" lvl="1" indent="-171450"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endParaRPr lang="en-US" sz="1200" noProof="1">
                  <a:solidFill>
                    <a:srgbClr val="125E4B"/>
                  </a:solidFill>
                </a:endParaRPr>
              </a:p>
              <a:p>
                <a:pPr lvl="1">
                  <a:spcAft>
                    <a:spcPts val="1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m:rPr>
                          <m:lit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m:rPr>
                          <m:lit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200" noProof="1">
                  <a:solidFill>
                    <a:srgbClr val="125E4B"/>
                  </a:solidFill>
                </a:endParaRPr>
              </a:p>
            </p:txBody>
          </p:sp>
        </mc:Choice>
        <mc:Fallback>
          <p:sp>
            <p:nvSpPr>
              <p:cNvPr id="7" name="Google Shape;703;p114">
                <a:extLst>
                  <a:ext uri="{FF2B5EF4-FFF2-40B4-BE49-F238E27FC236}">
                    <a16:creationId xmlns:a16="http://schemas.microsoft.com/office/drawing/2014/main" id="{2C6AAF22-8B83-97B5-9075-8E66A8CB7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513713" y="621865"/>
                <a:ext cx="3234354" cy="1850556"/>
              </a:xfrm>
              <a:prstGeom prst="rect">
                <a:avLst/>
              </a:prstGeom>
              <a:blipFill>
                <a:blip r:embed="rId15"/>
                <a:stretch>
                  <a:fillRect l="-7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0527;p9415">
            <a:extLst>
              <a:ext uri="{FF2B5EF4-FFF2-40B4-BE49-F238E27FC236}">
                <a16:creationId xmlns:a16="http://schemas.microsoft.com/office/drawing/2014/main" id="{4AF9F62B-A3D1-93B9-6D53-75083F3B39D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294408" y="603246"/>
            <a:ext cx="1055828" cy="1744175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txBody>
          <a:bodyPr spcFirstLastPara="1" wrap="square" lIns="68580" tIns="68580" rIns="68580" bIns="6858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noProof="1">
                <a:solidFill>
                  <a:schemeClr val="bg1"/>
                </a:solidFill>
                <a:latin typeface="+mj-lt"/>
              </a:rPr>
              <a:t>Graph Structure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703;p114">
                <a:extLst>
                  <a:ext uri="{FF2B5EF4-FFF2-40B4-BE49-F238E27FC236}">
                    <a16:creationId xmlns:a16="http://schemas.microsoft.com/office/drawing/2014/main" id="{D7AFA29D-DD90-72E8-2F5D-DA33CD13CAC6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513713" y="2485350"/>
                <a:ext cx="3285006" cy="17776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80" tIns="68580" rIns="68580" bIns="6858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5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Flow function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indicating the number of shipments transited through a given edge.</a:t>
                </a:r>
              </a:p>
              <a:p>
                <a:pPr lvl="1">
                  <a:spcAft>
                    <a:spcPts val="1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</m:oMath>
                  </m:oMathPara>
                </a14:m>
                <a:endParaRPr lang="it-IT" sz="1200" b="0" noProof="1">
                  <a:solidFill>
                    <a:srgbClr val="125E4B"/>
                  </a:solidFill>
                </a:endParaRPr>
              </a:p>
              <a:p>
                <a:pPr lvl="1">
                  <a:spcAft>
                    <a:spcPts val="150"/>
                  </a:spcAft>
                </a:pPr>
                <a:endParaRPr lang="it-IT" sz="1200" b="0" noProof="1">
                  <a:solidFill>
                    <a:srgbClr val="125E4B"/>
                  </a:solidFill>
                </a:endParaRPr>
              </a:p>
              <a:p>
                <a:pPr>
                  <a:spcAft>
                    <a:spcPts val="150"/>
                  </a:spcAft>
                </a:pPr>
                <a:r>
                  <a:rPr lang="it-IT" sz="1200" b="1" noProof="1">
                    <a:solidFill>
                      <a:srgbClr val="125E4B"/>
                    </a:solidFill>
                  </a:rPr>
                  <a:t>Flow conservation</a:t>
                </a:r>
                <a:r>
                  <a:rPr lang="it-IT" sz="1200" noProof="1">
                    <a:solidFill>
                      <a:srgbClr val="125E4B"/>
                    </a:solidFill>
                  </a:rPr>
                  <a:t> </a:t>
                </a:r>
                <a:r>
                  <a:rPr lang="it-IT" sz="1200" b="0" noProof="1">
                    <a:solidFill>
                      <a:srgbClr val="125E4B"/>
                    </a:solidFill>
                  </a:rPr>
                  <a:t>on intermediates vertices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guarantees no loss or duplication in shipments.</a:t>
                </a:r>
              </a:p>
              <a:p>
                <a:pPr lvl="1">
                  <a:spcAft>
                    <a:spcPts val="1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it-IT" sz="120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brk m:alnAt="7"/>
                                </m:r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,  ∀</m:t>
                          </m:r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nary>
                    </m:oMath>
                  </m:oMathPara>
                </a14:m>
                <a:endParaRPr lang="it-IT" sz="1200" b="0" noProof="1"/>
              </a:p>
              <a:p>
                <a:pPr marL="514350" lvl="1" indent="-171450">
                  <a:spcAft>
                    <a:spcPts val="150"/>
                  </a:spcAft>
                  <a:buFont typeface="Arial" panose="020B0604020202020204" pitchFamily="34" charset="0"/>
                  <a:buChar char="•"/>
                </a:pPr>
                <a:endParaRPr lang="en-US" sz="1200" noProof="1"/>
              </a:p>
              <a:p>
                <a:pPr>
                  <a:spcAft>
                    <a:spcPts val="150"/>
                  </a:spcAft>
                </a:pPr>
                <a:endParaRPr lang="en-US" sz="1200" noProof="1"/>
              </a:p>
            </p:txBody>
          </p:sp>
        </mc:Choice>
        <mc:Fallback>
          <p:sp>
            <p:nvSpPr>
              <p:cNvPr id="17" name="Google Shape;703;p114">
                <a:extLst>
                  <a:ext uri="{FF2B5EF4-FFF2-40B4-BE49-F238E27FC236}">
                    <a16:creationId xmlns:a16="http://schemas.microsoft.com/office/drawing/2014/main" id="{D7AFA29D-DD90-72E8-2F5D-DA33CD13C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5513713" y="2485350"/>
                <a:ext cx="3285006" cy="1777606"/>
              </a:xfrm>
              <a:prstGeom prst="rect">
                <a:avLst/>
              </a:prstGeom>
              <a:blipFill>
                <a:blip r:embed="rId16"/>
                <a:stretch>
                  <a:fillRect l="-2597" b="-487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E42DB70-AE1B-2487-3EB5-963B49AE89B9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Supply CHAIN Modeling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9E329A9-BE56-0E56-84A8-02B33464766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288" y="1030426"/>
            <a:ext cx="3783668" cy="31845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9BEB7FB-3029-BE92-420B-9F551234FE8E}"/>
              </a:ext>
            </a:extLst>
          </p:cNvPr>
          <p:cNvSpPr txBox="1"/>
          <p:nvPr/>
        </p:nvSpPr>
        <p:spPr>
          <a:xfrm>
            <a:off x="2527300" y="3753304"/>
            <a:ext cx="15186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>
                <a:solidFill>
                  <a:srgbClr val="FF0000"/>
                </a:solidFill>
                <a:latin typeface="+mn-lt"/>
              </a:rPr>
              <a:t>Supplier </a:t>
            </a:r>
            <a:r>
              <a:rPr lang="it-IT" sz="1000" dirty="0" err="1">
                <a:solidFill>
                  <a:srgbClr val="FF0000"/>
                </a:solidFill>
                <a:latin typeface="+mn-lt"/>
              </a:rPr>
              <a:t>sites</a:t>
            </a:r>
            <a:endParaRPr lang="it-IT" sz="1000" dirty="0">
              <a:solidFill>
                <a:schemeClr val="tx1"/>
              </a:solidFill>
              <a:latin typeface="+mn-lt"/>
            </a:endParaRPr>
          </a:p>
          <a:p>
            <a:r>
              <a:rPr lang="it-IT" sz="1000" dirty="0">
                <a:solidFill>
                  <a:srgbClr val="00B0F0"/>
                </a:solidFill>
                <a:latin typeface="+mn-lt"/>
              </a:rPr>
              <a:t>Intermediate locations </a:t>
            </a:r>
          </a:p>
          <a:p>
            <a:r>
              <a:rPr lang="it-IT" sz="1000" dirty="0" err="1">
                <a:solidFill>
                  <a:srgbClr val="00B050"/>
                </a:solidFill>
                <a:latin typeface="+mn-lt"/>
              </a:rPr>
              <a:t>Manufacturer</a:t>
            </a:r>
            <a:endParaRPr lang="en-US" sz="1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Google Shape;10527;p9415">
            <a:extLst>
              <a:ext uri="{FF2B5EF4-FFF2-40B4-BE49-F238E27FC236}">
                <a16:creationId xmlns:a16="http://schemas.microsoft.com/office/drawing/2014/main" id="{F61A6476-139B-6CD3-91BC-9F2FD68320A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294408" y="2485350"/>
            <a:ext cx="1055828" cy="1822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68580" rIns="68580" bIns="6858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1">
                <a:solidFill>
                  <a:schemeClr val="bg1"/>
                </a:solidFill>
                <a:latin typeface="+mj-lt"/>
              </a:rPr>
              <a:t>Shipments Flow</a:t>
            </a:r>
          </a:p>
        </p:txBody>
      </p:sp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EACDBCE-476E-3C4A-358F-F4C41642DDF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8540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8279-0B4E-813A-2EBE-EF73E3F08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B5C79D2-965A-2B21-9A3A-75F5652FB38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7772400" imgH="10058400" progId="TCLayout.ActiveDocument.1">
                  <p:embed/>
                </p:oleObj>
              </mc:Choice>
              <mc:Fallback>
                <p:oleObj name="think-cell Slide" r:id="rId1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5C79D2-965A-2B21-9A3A-75F5652FB3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5F0BC73-D1C8-99B9-AEAA-090EFE260D01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2900" y="411480"/>
            <a:ext cx="8455914" cy="370332"/>
          </a:xfrm>
        </p:spPr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Markov Chain Routing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Google Shape;703;p114">
                <a:extLst>
                  <a:ext uri="{FF2B5EF4-FFF2-40B4-BE49-F238E27FC236}">
                    <a16:creationId xmlns:a16="http://schemas.microsoft.com/office/drawing/2014/main" id="{0CB8B2B5-4DD5-D52F-5C9D-E8DE884AA5E8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42899" y="1639719"/>
                <a:ext cx="2220687" cy="1723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80" tIns="68580" rIns="68580" bIns="34290" anchor="t" anchorCtr="0">
                <a:norm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300"/>
                  </a:spcAft>
                </a:pPr>
                <a:r>
                  <a:rPr lang="en-US" sz="1200" noProof="1"/>
                  <a:t>Shipment flow used to estimate </a:t>
                </a:r>
                <a:r>
                  <a:rPr lang="en-US" sz="1200" b="1" noProof="1"/>
                  <a:t>empirical probabilities</a:t>
                </a:r>
                <a:r>
                  <a:rPr lang="en-US" sz="1200" noProof="1"/>
                  <a:t> of transition:</a:t>
                </a:r>
              </a:p>
              <a:p>
                <a:pPr>
                  <a:spcAft>
                    <a:spcPts val="300"/>
                  </a:spcAft>
                </a:pPr>
                <a:endParaRPr lang="en-US" sz="1200" noProof="1"/>
              </a:p>
              <a:p>
                <a:pPr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𝑣𝑢</m:t>
                          </m:r>
                        </m:sub>
                      </m:sSub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d>
                                <m:dPr>
                                  <m:ctrlP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7"/>
                                    </m:rP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1200" noProof="1"/>
              </a:p>
            </p:txBody>
          </p:sp>
        </mc:Choice>
        <mc:Fallback xmlns="">
          <p:sp>
            <p:nvSpPr>
              <p:cNvPr id="32" name="Google Shape;703;p114">
                <a:extLst>
                  <a:ext uri="{FF2B5EF4-FFF2-40B4-BE49-F238E27FC236}">
                    <a16:creationId xmlns:a16="http://schemas.microsoft.com/office/drawing/2014/main" id="{0CB8B2B5-4DD5-D52F-5C9D-E8DE884AA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342899" y="1639719"/>
                <a:ext cx="2220687" cy="1723547"/>
              </a:xfrm>
              <a:prstGeom prst="rect">
                <a:avLst/>
              </a:prstGeom>
              <a:blipFill>
                <a:blip r:embed="rId16"/>
                <a:stretch>
                  <a:fillRect l="-1096" b="-17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378F589-64E8-489E-9F5E-FD312AA79AE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Supply CHAIN Modeling</a:t>
            </a:r>
            <a:endParaRPr lang="en-US" sz="900" cap="all" noProof="1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02D786E8-4340-71AE-804E-B9794F6B5F25}"/>
              </a:ext>
            </a:extLst>
          </p:cNvPr>
          <p:cNvSpPr/>
          <p:nvPr/>
        </p:nvSpPr>
        <p:spPr>
          <a:xfrm rot="5400000">
            <a:off x="377391" y="4247374"/>
            <a:ext cx="137160" cy="8229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013" noProof="1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46639CE-2F27-F6FF-2A78-6ADB8D2785E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42899" y="3515188"/>
            <a:ext cx="8455819" cy="821656"/>
          </a:xfrm>
          <a:prstGeom prst="rect">
            <a:avLst/>
          </a:prstGeom>
          <a:solidFill>
            <a:schemeClr val="bg2"/>
          </a:solidFill>
        </p:spPr>
        <p:txBody>
          <a:bodyPr vert="horz" lIns="68580" tIns="68580" rIns="6858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b="1" noProof="1">
                <a:solidFill>
                  <a:srgbClr val="125E4B"/>
                </a:solidFill>
              </a:rPr>
              <a:t>Shipments</a:t>
            </a:r>
            <a:r>
              <a:rPr lang="en-US" sz="1400" noProof="1">
                <a:solidFill>
                  <a:srgbClr val="125E4B"/>
                </a:solidFill>
              </a:rPr>
              <a:t> are represented as </a:t>
            </a:r>
            <a:r>
              <a:rPr lang="en-US" sz="1400" b="1" noProof="1">
                <a:solidFill>
                  <a:srgbClr val="125E4B"/>
                </a:solidFill>
              </a:rPr>
              <a:t>maximal paths </a:t>
            </a:r>
            <a:r>
              <a:rPr lang="en-US" sz="1400" noProof="1">
                <a:solidFill>
                  <a:srgbClr val="125E4B"/>
                </a:solidFill>
              </a:rPr>
              <a:t>ending in the manufacturer. The </a:t>
            </a:r>
            <a:r>
              <a:rPr lang="en-US" sz="1400" b="1" noProof="1">
                <a:solidFill>
                  <a:srgbClr val="125E4B"/>
                </a:solidFill>
              </a:rPr>
              <a:t>routing process </a:t>
            </a:r>
            <a:r>
              <a:rPr lang="en-US" sz="1400" noProof="1">
                <a:solidFill>
                  <a:srgbClr val="125E4B"/>
                </a:solidFill>
              </a:rPr>
              <a:t>is modeled using </a:t>
            </a:r>
            <a:r>
              <a:rPr lang="en-US" sz="1400" b="1" noProof="1">
                <a:solidFill>
                  <a:srgbClr val="125E4B"/>
                </a:solidFill>
              </a:rPr>
              <a:t>discrete-time Markov chains</a:t>
            </a:r>
            <a:r>
              <a:rPr lang="en-US" sz="1400" noProof="1">
                <a:solidFill>
                  <a:srgbClr val="125E4B"/>
                </a:solidFill>
              </a:rPr>
              <a:t>, capturing shipment trajectories as </a:t>
            </a:r>
            <a:r>
              <a:rPr lang="en-US" sz="1400" b="1" noProof="1">
                <a:solidFill>
                  <a:srgbClr val="125E4B"/>
                </a:solidFill>
              </a:rPr>
              <a:t>stochastic processes </a:t>
            </a:r>
            <a:r>
              <a:rPr lang="en-US" sz="1400" noProof="1">
                <a:solidFill>
                  <a:srgbClr val="125E4B"/>
                </a:solidFill>
              </a:rPr>
              <a:t>based on </a:t>
            </a:r>
            <a:r>
              <a:rPr lang="en-US" sz="1400" b="1" noProof="1">
                <a:solidFill>
                  <a:srgbClr val="125E4B"/>
                </a:solidFill>
              </a:rPr>
              <a:t>empirical</a:t>
            </a:r>
            <a:r>
              <a:rPr lang="en-US" sz="1400" noProof="1">
                <a:solidFill>
                  <a:srgbClr val="125E4B"/>
                </a:solidFill>
              </a:rPr>
              <a:t> </a:t>
            </a:r>
            <a:r>
              <a:rPr lang="en-US" sz="1400" b="1" noProof="1">
                <a:solidFill>
                  <a:srgbClr val="125E4B"/>
                </a:solidFill>
              </a:rPr>
              <a:t>transition</a:t>
            </a:r>
            <a:r>
              <a:rPr lang="en-US" sz="1400" noProof="1">
                <a:solidFill>
                  <a:srgbClr val="125E4B"/>
                </a:solidFill>
              </a:rPr>
              <a:t> </a:t>
            </a:r>
            <a:r>
              <a:rPr lang="en-US" sz="1400" b="1" noProof="1">
                <a:solidFill>
                  <a:srgbClr val="125E4B"/>
                </a:solidFill>
              </a:rPr>
              <a:t>probabilities</a:t>
            </a:r>
            <a:r>
              <a:rPr lang="en-US" sz="1400" noProof="1">
                <a:solidFill>
                  <a:srgbClr val="125E4B"/>
                </a:solidFill>
              </a:rPr>
              <a:t> derived from </a:t>
            </a:r>
            <a:r>
              <a:rPr lang="en-US" sz="1400" b="1" noProof="1">
                <a:solidFill>
                  <a:srgbClr val="125E4B"/>
                </a:solidFill>
              </a:rPr>
              <a:t>historical</a:t>
            </a:r>
            <a:r>
              <a:rPr lang="en-US" sz="1400" noProof="1">
                <a:solidFill>
                  <a:srgbClr val="125E4B"/>
                </a:solidFill>
              </a:rPr>
              <a:t> </a:t>
            </a:r>
            <a:r>
              <a:rPr lang="en-US" sz="1400" b="1" noProof="1">
                <a:solidFill>
                  <a:srgbClr val="125E4B"/>
                </a:solidFill>
              </a:rPr>
              <a:t>shipment</a:t>
            </a:r>
            <a:r>
              <a:rPr lang="en-US" sz="1400" noProof="1">
                <a:solidFill>
                  <a:srgbClr val="125E4B"/>
                </a:solidFill>
              </a:rPr>
              <a:t> </a:t>
            </a:r>
            <a:r>
              <a:rPr lang="en-US" sz="1400" b="1" noProof="1">
                <a:solidFill>
                  <a:srgbClr val="125E4B"/>
                </a:solidFill>
              </a:rPr>
              <a:t>flows</a:t>
            </a:r>
            <a:r>
              <a:rPr lang="en-US" sz="1400" noProof="1">
                <a:solidFill>
                  <a:srgbClr val="125E4B"/>
                </a:solidFill>
              </a:rPr>
              <a:t>.</a:t>
            </a:r>
          </a:p>
        </p:txBody>
      </p:sp>
      <p:sp>
        <p:nvSpPr>
          <p:cNvPr id="13" name="Google Shape;10527;p9415">
            <a:extLst>
              <a:ext uri="{FF2B5EF4-FFF2-40B4-BE49-F238E27FC236}">
                <a16:creationId xmlns:a16="http://schemas.microsoft.com/office/drawing/2014/main" id="{77AD366E-28EF-5EC5-6E5B-17D29272698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42900" y="970857"/>
            <a:ext cx="2465613" cy="504062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68580" tIns="34290" rIns="3429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rgbClr val="125E4B"/>
                </a:solidFill>
                <a:latin typeface="+mj-lt"/>
              </a:rPr>
              <a:t>Empirical Probabilities</a:t>
            </a:r>
          </a:p>
        </p:txBody>
      </p:sp>
      <p:sp>
        <p:nvSpPr>
          <p:cNvPr id="6" name="Google Shape;10527;p9415">
            <a:extLst>
              <a:ext uri="{FF2B5EF4-FFF2-40B4-BE49-F238E27FC236}">
                <a16:creationId xmlns:a16="http://schemas.microsoft.com/office/drawing/2014/main" id="{895370E3-1A0B-D833-2B66-CBDEB3D6F4F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824785" y="958735"/>
            <a:ext cx="2816736" cy="504062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68580" tIns="34290" rIns="3429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rgbClr val="125E4B"/>
                </a:solidFill>
                <a:latin typeface="+mj-lt"/>
              </a:rPr>
              <a:t>Probabilistic Routing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3AD733-533C-9429-BF93-9BB95B79A5CD}"/>
                  </a:ext>
                </a:extLst>
              </p:cNvPr>
              <p:cNvSpPr txBox="1"/>
              <p:nvPr/>
            </p:nvSpPr>
            <p:spPr>
              <a:xfrm>
                <a:off x="5762823" y="1639718"/>
                <a:ext cx="2898322" cy="1723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US" sz="1200" noProof="1">
                    <a:latin typeface="+mn-lt"/>
                  </a:rPr>
                  <a:t>Shipment flows </a:t>
                </a:r>
                <a:r>
                  <a:rPr lang="en-US" sz="1200" b="1" noProof="1">
                    <a:latin typeface="+mn-lt"/>
                  </a:rPr>
                  <a:t>conditioned</a:t>
                </a:r>
                <a:r>
                  <a:rPr lang="en-US" sz="1200" noProof="1">
                    <a:latin typeface="+mn-lt"/>
                  </a:rPr>
                  <a:t> on the specific </a:t>
                </a:r>
                <a:r>
                  <a:rPr lang="en-US" sz="1200" b="1" noProof="1">
                    <a:latin typeface="+mn-lt"/>
                  </a:rPr>
                  <a:t>carrier</a:t>
                </a:r>
                <a:r>
                  <a:rPr lang="en-US" sz="1200" noProof="1">
                    <a:latin typeface="+mn-lt"/>
                  </a:rPr>
                  <a:t> to model distinct routing behaviors:</a:t>
                </a:r>
              </a:p>
              <a:p>
                <a:pPr>
                  <a:spcAft>
                    <a:spcPts val="300"/>
                  </a:spcAft>
                </a:pPr>
                <a:endParaRPr lang="en-US" sz="1200" noProof="1"/>
              </a:p>
              <a:p>
                <a:pPr>
                  <a:spcAft>
                    <a:spcPts val="300"/>
                  </a:spcAft>
                </a:pPr>
                <a:r>
                  <a:rPr lang="en-US" sz="1200" noProof="1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200" i="1" noProof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200" i="1" noProof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it-IT" sz="1200" i="1" noProof="1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d>
                      <m:dPr>
                        <m:ctrlPr>
                          <a:rPr lang="it-IT" sz="1200" i="1" noProof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200" i="1" noProof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sz="1200" i="1" noProof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200" i="1" noProof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it-IT" sz="1200" i="1" noProof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200" b="1" i="1" noProof="1">
                        <a:latin typeface="Cambria Math" panose="02040503050406030204" pitchFamily="18" charset="0"/>
                      </a:rPr>
                      <m:t>𝐧𝐮𝐦𝐛𝐞𝐫</m:t>
                    </m:r>
                    <m:r>
                      <a:rPr lang="it-IT" sz="1200" noProof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1200" noProof="1">
                        <a:latin typeface="Cambria Math" panose="02040503050406030204" pitchFamily="18" charset="0"/>
                      </a:rPr>
                      <m:t>of</m:t>
                    </m:r>
                    <m:r>
                      <a:rPr lang="it-IT" sz="1200" noProof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b="1" i="1" noProof="1">
                        <a:latin typeface="Cambria Math" panose="02040503050406030204" pitchFamily="18" charset="0"/>
                      </a:rPr>
                      <m:t>𝐬𝐡𝐢𝐩𝐦𝐞𝐧𝐭𝐬</m:t>
                    </m:r>
                    <m:r>
                      <a:rPr lang="it-IT" sz="1200" noProof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1200" noProof="1">
                        <a:latin typeface="Cambria Math" panose="02040503050406030204" pitchFamily="18" charset="0"/>
                      </a:rPr>
                      <m:t>from</m:t>
                    </m:r>
                    <m:r>
                      <a:rPr lang="it-IT" sz="1200" noProof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i="1" noProof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sz="1200" i="1" noProof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sz="1200" noProof="1">
                        <a:latin typeface="Cambria Math" panose="02040503050406030204" pitchFamily="18" charset="0"/>
                      </a:rPr>
                      <m:t>to</m:t>
                    </m:r>
                    <m:r>
                      <a:rPr lang="it-IT" sz="1200" i="1" noProof="1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i="1" noProof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sz="1200" i="1" noProof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it-IT" sz="1200" i="1" noProof="1">
                  <a:latin typeface="Cambria Math" panose="02040503050406030204" pitchFamily="18" charset="0"/>
                </a:endParaRPr>
              </a:p>
              <a:p>
                <a:pPr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i="1" noProof="1">
                          <a:latin typeface="Cambria Math" panose="02040503050406030204" pitchFamily="18" charset="0"/>
                        </a:rPr>
                        <m:t>executed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sz="1200" i="1" noProof="1"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200" b="1" i="0" noProof="1">
                          <a:latin typeface="Cambria Math" panose="02040503050406030204" pitchFamily="18" charset="0"/>
                        </a:rPr>
                        <m:t>𝐜𝐚𝐫𝐫𝐢𝐞𝐫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1200" i="1" noProof="1"/>
              </a:p>
              <a:p>
                <a:pPr>
                  <a:spcAft>
                    <a:spcPts val="300"/>
                  </a:spcAft>
                </a:pPr>
                <a:endParaRPr lang="en-US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3AD733-533C-9429-BF93-9BB95B79A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823" y="1639718"/>
                <a:ext cx="2898322" cy="1723549"/>
              </a:xfrm>
              <a:prstGeom prst="rect">
                <a:avLst/>
              </a:prstGeom>
              <a:blipFill>
                <a:blip r:embed="rId17"/>
                <a:stretch>
                  <a:fillRect t="-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10527;p9415">
            <a:extLst>
              <a:ext uri="{FF2B5EF4-FFF2-40B4-BE49-F238E27FC236}">
                <a16:creationId xmlns:a16="http://schemas.microsoft.com/office/drawing/2014/main" id="{7B71BE3A-818B-D338-3DAB-3353DD04301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641521" y="958735"/>
            <a:ext cx="3140926" cy="504062"/>
          </a:xfrm>
          <a:prstGeom prst="chevron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68580" tIns="34290" rIns="34290" bIns="34290" anchor="ctr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rgbClr val="125E4B"/>
                </a:solidFill>
                <a:latin typeface="+mj-lt"/>
              </a:rPr>
              <a:t>Carrier-Conditioned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703;p114">
                <a:extLst>
                  <a:ext uri="{FF2B5EF4-FFF2-40B4-BE49-F238E27FC236}">
                    <a16:creationId xmlns:a16="http://schemas.microsoft.com/office/drawing/2014/main" id="{139098A1-42DC-B278-CCAD-4260C9FE7A2F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24785" y="1639720"/>
                <a:ext cx="2735094" cy="17235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80" tIns="68580" rIns="68580" bIns="3429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300"/>
                  </a:spcAft>
                </a:pPr>
                <a:r>
                  <a:rPr lang="en-US" sz="1200" b="1" noProof="1"/>
                  <a:t>Markov Property </a:t>
                </a:r>
                <a:r>
                  <a:rPr lang="en-US" sz="1200" noProof="1"/>
                  <a:t>used to compute path probabilities:</a:t>
                </a:r>
              </a:p>
              <a:p>
                <a:pPr>
                  <a:spcAft>
                    <a:spcPts val="300"/>
                  </a:spcAft>
                </a:pPr>
                <a:endParaRPr lang="en-US" sz="1200" dirty="0"/>
              </a:p>
              <a:p>
                <a:pPr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it-IT" sz="1200" i="1" noProof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it-IT" sz="12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it-IT" sz="1200" i="1" noProof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it-IT" sz="1200" i="1" noProof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1200" i="1" noProof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…,</m:t>
                          </m:r>
                          <m:sSub>
                            <m:sSubPr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it-IT" sz="12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r>
                        <a:rPr lang="it-IT" sz="1200" i="1" noProof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) ⋅</m:t>
                      </m:r>
                      <m:nary>
                        <m:naryPr>
                          <m:chr m:val="∏"/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sz="1200" i="1" noProof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it-IT" sz="1200" i="1" noProof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m:oMathPara>
                </a14:m>
                <a:endParaRPr lang="en-US" sz="1200" noProof="1"/>
              </a:p>
            </p:txBody>
          </p:sp>
        </mc:Choice>
        <mc:Fallback xmlns="">
          <p:sp>
            <p:nvSpPr>
              <p:cNvPr id="14" name="Google Shape;703;p114">
                <a:extLst>
                  <a:ext uri="{FF2B5EF4-FFF2-40B4-BE49-F238E27FC236}">
                    <a16:creationId xmlns:a16="http://schemas.microsoft.com/office/drawing/2014/main" id="{139098A1-42DC-B278-CCAD-4260C9FE7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2824785" y="1639720"/>
                <a:ext cx="2735094" cy="1723547"/>
              </a:xfrm>
              <a:prstGeom prst="rect">
                <a:avLst/>
              </a:prstGeom>
              <a:blipFill>
                <a:blip r:embed="rId19"/>
                <a:stretch>
                  <a:fillRect l="-8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D06F6CB-86D3-30BF-F3FF-7C54E76BFD0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0069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7C67-3564-8DAF-AD12-2C9FB798D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046862-10BA-B325-35F9-A3A6BD9E0FD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7772400" imgH="10058400" progId="TCLayout.ActiveDocument.1">
                  <p:embed/>
                </p:oleObj>
              </mc:Choice>
              <mc:Fallback>
                <p:oleObj name="think-cell Slide" r:id="rId1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046862-10BA-B325-35F9-A3A6BD9E0F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BBDECDC-BDF4-80F0-DC2E-D46780DD079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Paths Extraction and Probability Distributions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0A5BD79-5368-6F78-A881-93DB972B104D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Supply CHAIN Modeling</a:t>
            </a:r>
            <a:endParaRPr lang="en-US" sz="900" cap="all" noProof="1">
              <a:solidFill>
                <a:schemeClr val="accent1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703;p114">
                <a:extLst>
                  <a:ext uri="{FF2B5EF4-FFF2-40B4-BE49-F238E27FC236}">
                    <a16:creationId xmlns:a16="http://schemas.microsoft.com/office/drawing/2014/main" id="{7707F636-224E-59C8-D955-5BFD13D43C2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42899" y="1661071"/>
                <a:ext cx="3826825" cy="1915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600"/>
                  </a:spcAft>
                  <a:buClrTx/>
                </a:pPr>
                <a:r>
                  <a:rPr lang="en-US" sz="1200" noProof="1"/>
                  <a:t>Modified </a:t>
                </a:r>
                <a:r>
                  <a:rPr lang="en-US" sz="1200" b="1" noProof="1"/>
                  <a:t>Depth-First Search (</a:t>
                </a:r>
                <a:r>
                  <a:rPr lang="en-US" sz="1200" b="1" i="1" noProof="1"/>
                  <a:t>DFS</a:t>
                </a:r>
                <a:r>
                  <a:rPr lang="en-US" sz="1200" b="1" noProof="1"/>
                  <a:t>) </a:t>
                </a:r>
                <a:r>
                  <a:rPr lang="en-US" sz="1200" noProof="1"/>
                  <a:t>collects all shipment paths from a vertex </a:t>
                </a:r>
                <a14:m>
                  <m:oMath xmlns:m="http://schemas.openxmlformats.org/officeDocument/2006/math"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1200" noProof="1"/>
                  <a:t> to the manufacturer </a:t>
                </a:r>
                <a14:m>
                  <m:oMath xmlns:m="http://schemas.openxmlformats.org/officeDocument/2006/math"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1200" noProof="1"/>
                  <a:t>.</a:t>
                </a:r>
              </a:p>
              <a:p>
                <a:pPr>
                  <a:spcAft>
                    <a:spcPts val="600"/>
                  </a:spcAft>
                  <a:buClrTx/>
                </a:pPr>
                <a:endParaRPr lang="en-US" sz="1200" noProof="1"/>
              </a:p>
              <a:p>
                <a:pPr>
                  <a:spcAft>
                    <a:spcPts val="600"/>
                  </a:spcAft>
                  <a:buClrTx/>
                </a:pPr>
                <a:r>
                  <a:rPr lang="en-US" sz="1200" dirty="0"/>
                  <a:t>Dataset shows only a limited number of paths per vertex: </a:t>
                </a:r>
                <a:r>
                  <a:rPr lang="en-US" sz="1200" b="1" dirty="0"/>
                  <a:t>average 4 paths per vertex, maximum 24</a:t>
                </a:r>
                <a:r>
                  <a:rPr lang="en-US" sz="1200" dirty="0"/>
                  <a:t>.</a:t>
                </a:r>
                <a:endParaRPr lang="en-US" sz="1200" noProof="1"/>
              </a:p>
            </p:txBody>
          </p:sp>
        </mc:Choice>
        <mc:Fallback xmlns="">
          <p:sp>
            <p:nvSpPr>
              <p:cNvPr id="19" name="Google Shape;703;p114">
                <a:extLst>
                  <a:ext uri="{FF2B5EF4-FFF2-40B4-BE49-F238E27FC236}">
                    <a16:creationId xmlns:a16="http://schemas.microsoft.com/office/drawing/2014/main" id="{7707F636-224E-59C8-D955-5BFD13D43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342899" y="1661071"/>
                <a:ext cx="3826825" cy="1915867"/>
              </a:xfrm>
              <a:prstGeom prst="rect">
                <a:avLst/>
              </a:prstGeom>
              <a:blipFill>
                <a:blip r:embed="rId16"/>
                <a:stretch>
                  <a:fillRect l="-6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10527;p9415">
            <a:extLst>
              <a:ext uri="{FF2B5EF4-FFF2-40B4-BE49-F238E27FC236}">
                <a16:creationId xmlns:a16="http://schemas.microsoft.com/office/drawing/2014/main" id="{6A9C5CA5-9CB7-0D8F-5224-E9E36B6EC11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42899" y="1278527"/>
            <a:ext cx="4183380" cy="288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endParaRPr lang="en-US" sz="1400" noProof="1">
              <a:solidFill>
                <a:schemeClr val="accent3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703;p114">
                <a:extLst>
                  <a:ext uri="{FF2B5EF4-FFF2-40B4-BE49-F238E27FC236}">
                    <a16:creationId xmlns:a16="http://schemas.microsoft.com/office/drawing/2014/main" id="{18D8ED4D-BC2B-476C-80DE-DB9DC9F2EB90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570809" y="1661070"/>
                <a:ext cx="3906441" cy="1915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Aft>
                    <a:spcPts val="600"/>
                  </a:spcAft>
                  <a:buClrTx/>
                </a:pPr>
                <a:r>
                  <a:rPr lang="en-US" sz="1200" noProof="1"/>
                  <a:t>Given the collection of all the </a:t>
                </a:r>
                <a:r>
                  <a:rPr lang="en-US" sz="1200" b="1" noProof="1"/>
                  <a:t>maximal</a:t>
                </a:r>
                <a:r>
                  <a:rPr lang="en-US" sz="1200" noProof="1"/>
                  <a:t> </a:t>
                </a:r>
                <a:r>
                  <a:rPr lang="en-US" sz="1200" b="1" noProof="1"/>
                  <a:t>paths</a:t>
                </a:r>
                <a:r>
                  <a:rPr lang="en-US" sz="1200" noProof="1"/>
                  <a:t> for a vertex </a:t>
                </a:r>
                <a14:m>
                  <m:oMath xmlns:m="http://schemas.openxmlformats.org/officeDocument/2006/math"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200" noProof="1"/>
                  <a:t>:</a:t>
                </a:r>
              </a:p>
              <a:p>
                <a:pPr>
                  <a:spcAft>
                    <a:spcPts val="60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b="0" i="0" noProof="1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it-IT" sz="1200" i="1" noProof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it-IT" sz="1200" i="1" noProof="1">
                              <a:latin typeface="Cambria Math" panose="02040503050406030204" pitchFamily="18" charset="0"/>
                            </a:rPr>
                            <m:t>ℓ</m:t>
                          </m:r>
                        </m:sub>
                      </m:sSub>
                      <m:r>
                        <a:rPr lang="it-IT" sz="1200" i="1" noProof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200" noProof="1"/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  <a:buClrTx/>
                </a:pPr>
                <a:r>
                  <a:rPr lang="en-US" sz="1200" noProof="1"/>
                  <a:t>The associated </a:t>
                </a:r>
                <a:r>
                  <a:rPr lang="en-US" sz="1200" b="1" noProof="1"/>
                  <a:t>paths</a:t>
                </a:r>
                <a:r>
                  <a:rPr lang="en-US" sz="1200" noProof="1"/>
                  <a:t> </a:t>
                </a:r>
                <a:r>
                  <a:rPr lang="en-US" sz="1200" b="1" noProof="1"/>
                  <a:t>probabilities</a:t>
                </a:r>
                <a:r>
                  <a:rPr lang="en-US" sz="1200" noProof="1"/>
                  <a:t> conditioned by carrier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200" b="0" i="1" noProof="1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sz="1200" noProof="1"/>
                  <a:t>:</a:t>
                </a:r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200" b="1" i="1" noProof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it-IT" sz="1200" b="0" i="1" noProof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it-IT" sz="1200" b="0" i="1" noProof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Sup>
                            <m:sSubSupPr>
                              <m:ctrlP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sub>
                            <m:sup>
                              <m:r>
                                <a:rPr lang="it-IT" sz="1200" b="0" i="1" noProof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noProof="1"/>
              </a:p>
              <a:p>
                <a:pPr>
                  <a:lnSpc>
                    <a:spcPct val="100000"/>
                  </a:lnSpc>
                  <a:spcAft>
                    <a:spcPts val="600"/>
                  </a:spcAft>
                  <a:buClrTx/>
                </a:pPr>
                <a:r>
                  <a:rPr lang="en-US" sz="1200" noProof="1"/>
                  <a:t>Form a valid </a:t>
                </a:r>
                <a:r>
                  <a:rPr lang="en-US" sz="1200" b="1" noProof="1"/>
                  <a:t>probability distribution.</a:t>
                </a:r>
                <a:endParaRPr lang="en-US" sz="1200" noProof="1"/>
              </a:p>
            </p:txBody>
          </p:sp>
        </mc:Choice>
        <mc:Fallback xmlns="">
          <p:sp>
            <p:nvSpPr>
              <p:cNvPr id="21" name="Google Shape;703;p114">
                <a:extLst>
                  <a:ext uri="{FF2B5EF4-FFF2-40B4-BE49-F238E27FC236}">
                    <a16:creationId xmlns:a16="http://schemas.microsoft.com/office/drawing/2014/main" id="{18D8ED4D-BC2B-476C-80DE-DB9DC9F2E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4570809" y="1661070"/>
                <a:ext cx="3906441" cy="1915867"/>
              </a:xfrm>
              <a:prstGeom prst="rect">
                <a:avLst/>
              </a:prstGeom>
              <a:blipFill>
                <a:blip r:embed="rId18"/>
                <a:stretch>
                  <a:fillRect l="-624" r="-3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Google Shape;10527;p9415">
            <a:extLst>
              <a:ext uri="{FF2B5EF4-FFF2-40B4-BE49-F238E27FC236}">
                <a16:creationId xmlns:a16="http://schemas.microsoft.com/office/drawing/2014/main" id="{033098A4-7467-3F7B-F551-58656BA2D05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42899" y="1079212"/>
            <a:ext cx="3826826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Paths Extraction Methodology</a:t>
            </a:r>
          </a:p>
        </p:txBody>
      </p:sp>
      <p:sp>
        <p:nvSpPr>
          <p:cNvPr id="5" name="Google Shape;10527;p9415">
            <a:extLst>
              <a:ext uri="{FF2B5EF4-FFF2-40B4-BE49-F238E27FC236}">
                <a16:creationId xmlns:a16="http://schemas.microsoft.com/office/drawing/2014/main" id="{80A80993-C2BE-707C-242B-4ADEFA62059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570809" y="1079212"/>
            <a:ext cx="3826826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Probability Distribution Computation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299546-006F-2DA1-94F6-8883AE60A43C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316309" y="3415010"/>
            <a:ext cx="8509000" cy="821656"/>
          </a:xfrm>
          <a:prstGeom prst="rect">
            <a:avLst/>
          </a:prstGeom>
          <a:solidFill>
            <a:schemeClr val="bg2"/>
          </a:solidFill>
        </p:spPr>
        <p:txBody>
          <a:bodyPr vert="horz" lIns="68580" tIns="68580" rIns="6858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400" dirty="0">
                <a:solidFill>
                  <a:srgbClr val="125E4B"/>
                </a:solidFill>
              </a:rPr>
              <a:t>For each vertex, </a:t>
            </a:r>
            <a:r>
              <a:rPr lang="en-US" sz="1400" b="1" dirty="0">
                <a:solidFill>
                  <a:srgbClr val="125E4B"/>
                </a:solidFill>
              </a:rPr>
              <a:t>carrier behavior </a:t>
            </a:r>
            <a:r>
              <a:rPr lang="en-US" sz="1400" dirty="0">
                <a:solidFill>
                  <a:srgbClr val="125E4B"/>
                </a:solidFill>
              </a:rPr>
              <a:t>is modeled by considering </a:t>
            </a:r>
            <a:r>
              <a:rPr lang="en-US" sz="1400" b="1" dirty="0">
                <a:solidFill>
                  <a:srgbClr val="125E4B"/>
                </a:solidFill>
              </a:rPr>
              <a:t>all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possible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paths</a:t>
            </a:r>
            <a:r>
              <a:rPr lang="en-US" sz="1400" dirty="0">
                <a:solidFill>
                  <a:srgbClr val="125E4B"/>
                </a:solidFill>
              </a:rPr>
              <a:t> to the manufacturer, along with the </a:t>
            </a:r>
            <a:r>
              <a:rPr lang="en-US" sz="1400" b="1" dirty="0">
                <a:solidFill>
                  <a:srgbClr val="125E4B"/>
                </a:solidFill>
              </a:rPr>
              <a:t>probability</a:t>
            </a:r>
            <a:r>
              <a:rPr lang="en-US" sz="1400" dirty="0">
                <a:solidFill>
                  <a:srgbClr val="125E4B"/>
                </a:solidFill>
              </a:rPr>
              <a:t> that each path is followed.</a:t>
            </a:r>
            <a:endParaRPr lang="en-US" sz="1400" noProof="1">
              <a:solidFill>
                <a:srgbClr val="125E4B"/>
              </a:solidFill>
            </a:endParaRPr>
          </a:p>
        </p:txBody>
      </p:sp>
      <p:pic>
        <p:nvPicPr>
          <p:cNvPr id="2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FE05C36F-C8F5-BA77-9C7F-E87652C9FA7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402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AC7C5-AD0A-73A5-C1E2-F268E3F8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DE5036-466F-B9AA-E630-EED45498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26F21E-1240-F30A-5E2D-FA1835D82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8EC238-DF11-FD2C-6E22-C7262A49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2E66F3-838B-C523-8CC6-1D7DC743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772FBE8-14CF-003B-64C2-36F16E99C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91E814-CAAB-4A89-8827-4213CF634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664" y="614238"/>
            <a:ext cx="3984667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</a:rPr>
              <a:t>Historical Indicators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AA9C6-C7E1-3D43-9C1B-255D8DEB8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A8BA2C-8159-5487-7DC5-5646D1DAE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16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2596-1BD2-1A73-EAB4-CE549E2A3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802CAB30-816E-F7F2-CDC8-A7060DDDB0D9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7772400" imgH="10058400" progId="TCLayout.ActiveDocument.1">
                  <p:embed/>
                </p:oleObj>
              </mc:Choice>
              <mc:Fallback>
                <p:oleObj name="think-cell Slide" r:id="rId12" imgW="7772400" imgH="10058400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2CAB30-816E-F7F2-CDC8-A7060DDDB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ACBE8AD-AD7D-A8AF-5925-1C1ADE05AE4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2900" y="393312"/>
            <a:ext cx="5629275" cy="588212"/>
          </a:xfrm>
        </p:spPr>
        <p:txBody>
          <a:bodyPr vert="horz" lIns="0" tIns="68580" rIns="0" bIns="34290" rtlCol="0" anchor="t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703;p114">
                <a:extLst>
                  <a:ext uri="{FF2B5EF4-FFF2-40B4-BE49-F238E27FC236}">
                    <a16:creationId xmlns:a16="http://schemas.microsoft.com/office/drawing/2014/main" id="{594BDEA6-757A-9F94-ABA6-69F5D718406B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42900" y="1285875"/>
                <a:ext cx="5298619" cy="137568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Dispatch times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: a probability distribution for each supplier.</a:t>
                </a:r>
              </a:p>
              <a:p>
                <a:pPr marL="261938" indent="-175022">
                  <a:lnSpc>
                    <a:spcPct val="10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b="0" i="0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DT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𝒟</m:t>
                      </m:r>
                      <m:d>
                        <m:dPr>
                          <m:ctrlP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b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1200" b="0" i="1" noProof="1">
                  <a:solidFill>
                    <a:srgbClr val="125E4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61938" indent="-175022">
                  <a:lnSpc>
                    <a:spcPct val="100000"/>
                  </a:lnSpc>
                  <a:spcAft>
                    <a:spcPts val="600"/>
                  </a:spcAft>
                </a:pPr>
                <a:endParaRPr lang="it-IT" sz="1200" b="0" i="1" noProof="1">
                  <a:solidFill>
                    <a:srgbClr val="125E4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6916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Shipment times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: a probability distribution for each supplier–carrier pair.</a:t>
                </a:r>
              </a:p>
              <a:p>
                <a:pPr marL="261938" indent="-17502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m:rPr>
                          <m:sty m:val="p"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𝒟</m:t>
                      </m:r>
                      <m:d>
                        <m:dPr>
                          <m:ctrl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b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1200" b="0" i="1" noProof="1">
                  <a:solidFill>
                    <a:srgbClr val="125E4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Google Shape;703;p114">
                <a:extLst>
                  <a:ext uri="{FF2B5EF4-FFF2-40B4-BE49-F238E27FC236}">
                    <a16:creationId xmlns:a16="http://schemas.microsoft.com/office/drawing/2014/main" id="{594BDEA6-757A-9F94-ABA6-69F5D7184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342900" y="1285875"/>
                <a:ext cx="5298619" cy="137568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10BB486-7D1E-DCB6-E765-F3022AD20C2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HISTORICAL Indicators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62CD5BF-5AA1-1CB0-1340-859912AA13B7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6"/>
            </p:custDataLst>
          </p:nvPr>
        </p:nvSpPr>
        <p:spPr>
          <a:xfrm>
            <a:off x="5915892" y="1"/>
            <a:ext cx="3228108" cy="5143500"/>
          </a:xfrm>
          <a:solidFill>
            <a:schemeClr val="bg2"/>
          </a:solidFill>
        </p:spPr>
        <p:txBody>
          <a:bodyPr lIns="342900" tIns="68580" rIns="274320" bIns="6858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endParaRPr lang="en-US" sz="1400" noProof="1">
              <a:solidFill>
                <a:schemeClr val="accent3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400" b="1" noProof="1">
                <a:solidFill>
                  <a:srgbClr val="125E4B"/>
                </a:solidFill>
                <a:cs typeface="Arial" panose="020B0604020202020204" pitchFamily="34" charset="0"/>
              </a:rPr>
              <a:t>Historical</a:t>
            </a:r>
            <a:r>
              <a:rPr lang="en-US" sz="1400" noProof="1">
                <a:solidFill>
                  <a:srgbClr val="125E4B"/>
                </a:solidFill>
                <a:cs typeface="Arial" panose="020B0604020202020204" pitchFamily="34" charset="0"/>
              </a:rPr>
              <a:t> </a:t>
            </a:r>
            <a:r>
              <a:rPr lang="en-US" sz="1400" b="1" noProof="1">
                <a:solidFill>
                  <a:srgbClr val="125E4B"/>
                </a:solidFill>
                <a:cs typeface="Arial" panose="020B0604020202020204" pitchFamily="34" charset="0"/>
              </a:rPr>
              <a:t>indicators</a:t>
            </a:r>
            <a:r>
              <a:rPr lang="en-US" sz="1400" noProof="1">
                <a:solidFill>
                  <a:srgbClr val="125E4B"/>
                </a:solidFill>
                <a:cs typeface="Arial" panose="020B0604020202020204" pitchFamily="34" charset="0"/>
              </a:rPr>
              <a:t> are stastistical measures that characterize key </a:t>
            </a:r>
            <a:r>
              <a:rPr lang="en-US" sz="1400" b="1" noProof="1">
                <a:solidFill>
                  <a:srgbClr val="125E4B"/>
                </a:solidFill>
                <a:cs typeface="Arial" panose="020B0604020202020204" pitchFamily="34" charset="0"/>
              </a:rPr>
              <a:t>operational</a:t>
            </a:r>
            <a:r>
              <a:rPr lang="en-US" sz="1400" noProof="1">
                <a:solidFill>
                  <a:srgbClr val="125E4B"/>
                </a:solidFill>
                <a:cs typeface="Arial" panose="020B0604020202020204" pitchFamily="34" charset="0"/>
              </a:rPr>
              <a:t> </a:t>
            </a:r>
            <a:r>
              <a:rPr lang="en-US" sz="1400" b="1" noProof="1">
                <a:solidFill>
                  <a:srgbClr val="125E4B"/>
                </a:solidFill>
                <a:cs typeface="Arial" panose="020B0604020202020204" pitchFamily="34" charset="0"/>
              </a:rPr>
              <a:t>times</a:t>
            </a:r>
            <a:r>
              <a:rPr lang="en-US" sz="1400" noProof="1">
                <a:solidFill>
                  <a:srgbClr val="125E4B"/>
                </a:solidFill>
                <a:cs typeface="Arial" panose="020B0604020202020204" pitchFamily="34" charset="0"/>
              </a:rPr>
              <a:t> in the order fulfillment process, based exclusively on </a:t>
            </a:r>
            <a:r>
              <a:rPr lang="en-US" sz="1400" b="1" noProof="1">
                <a:solidFill>
                  <a:srgbClr val="125E4B"/>
                </a:solidFill>
                <a:cs typeface="Arial" panose="020B0604020202020204" pitchFamily="34" charset="0"/>
              </a:rPr>
              <a:t>historical</a:t>
            </a:r>
            <a:r>
              <a:rPr lang="en-US" sz="1400" noProof="1">
                <a:solidFill>
                  <a:srgbClr val="125E4B"/>
                </a:solidFill>
                <a:cs typeface="Arial" panose="020B0604020202020204" pitchFamily="34" charset="0"/>
              </a:rPr>
              <a:t> </a:t>
            </a:r>
            <a:r>
              <a:rPr lang="en-US" sz="1400" b="1" noProof="1">
                <a:solidFill>
                  <a:srgbClr val="125E4B"/>
                </a:solidFill>
                <a:cs typeface="Arial" panose="020B0604020202020204" pitchFamily="34" charset="0"/>
              </a:rPr>
              <a:t>data</a:t>
            </a:r>
            <a:r>
              <a:rPr lang="en-US" sz="1400" noProof="1">
                <a:solidFill>
                  <a:srgbClr val="125E4B"/>
                </a:solidFill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sz="1400" noProof="1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703;p114">
                <a:extLst>
                  <a:ext uri="{FF2B5EF4-FFF2-40B4-BE49-F238E27FC236}">
                    <a16:creationId xmlns:a16="http://schemas.microsoft.com/office/drawing/2014/main" id="{BC560D40-91EB-9882-C2E4-FD172E49DFB6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2899" y="3077876"/>
                <a:ext cx="5298620" cy="1790148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86916"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it-IT" sz="1200" b="1" noProof="1">
                    <a:solidFill>
                      <a:srgbClr val="125E4B"/>
                    </a:solidFill>
                    <a:ea typeface="Cambria Math" panose="02040503050406030204" pitchFamily="18" charset="0"/>
                  </a:rPr>
                  <a:t>Pointwise</a:t>
                </a:r>
                <a:r>
                  <a:rPr lang="it-IT" sz="1200" noProof="1">
                    <a:solidFill>
                      <a:srgbClr val="125E4B"/>
                    </a:solidFill>
                    <a:ea typeface="Cambria Math" panose="02040503050406030204" pitchFamily="18" charset="0"/>
                  </a:rPr>
                  <a:t>: expected value of the distribution.</a:t>
                </a:r>
              </a:p>
              <a:p>
                <a:pPr marL="86916">
                  <a:lnSpc>
                    <a:spcPct val="100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b="0" i="0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b="0" i="0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DT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)],  ∀</m:t>
                      </m:r>
                      <m:r>
                        <m:rPr>
                          <m:sty m:val="p"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m:rPr>
                          <m:sty m:val="p"/>
                        </m:rP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it-IT" sz="1200" noProof="1">
                  <a:solidFill>
                    <a:srgbClr val="125E4B"/>
                  </a:solidFill>
                  <a:ea typeface="Cambria Math" panose="02040503050406030204" pitchFamily="18" charset="0"/>
                </a:endParaRPr>
              </a:p>
              <a:p>
                <a:pPr marL="86916">
                  <a:lnSpc>
                    <a:spcPct val="100000"/>
                  </a:lnSpc>
                  <a:spcAft>
                    <a:spcPts val="600"/>
                  </a:spcAft>
                </a:pPr>
                <a:endParaRPr lang="it-IT" sz="1200" noProof="1">
                  <a:solidFill>
                    <a:srgbClr val="125E4B"/>
                  </a:solidFill>
                  <a:ea typeface="Cambria Math" panose="02040503050406030204" pitchFamily="18" charset="0"/>
                </a:endParaRPr>
              </a:p>
              <a:p>
                <a:pPr marL="86916">
                  <a:lnSpc>
                    <a:spcPct val="100000"/>
                  </a:lnSpc>
                  <a:spcAft>
                    <a:spcPts val="600"/>
                  </a:spcAft>
                </a:pPr>
                <a:r>
                  <a:rPr lang="it-IT" sz="1200" b="1" noProof="1">
                    <a:solidFill>
                      <a:srgbClr val="125E4B"/>
                    </a:solidFill>
                    <a:ea typeface="Cambria Math" panose="02040503050406030204" pitchFamily="18" charset="0"/>
                  </a:rPr>
                  <a:t>Interval-based:</a:t>
                </a:r>
                <a:r>
                  <a:rPr lang="it-IT" sz="1200" noProof="1">
                    <a:solidFill>
                      <a:srgbClr val="125E4B"/>
                    </a:solidFill>
                    <a:ea typeface="Cambria Math" panose="02040503050406030204" pitchFamily="18" charset="0"/>
                  </a:rPr>
                  <a:t> </a:t>
                </a:r>
                <a:r>
                  <a:rPr lang="el-GR" sz="1200" noProof="1">
                    <a:solidFill>
                      <a:srgbClr val="125E4B"/>
                    </a:solidFill>
                    <a:ea typeface="Cambria Math" panose="02040503050406030204" pitchFamily="18" charset="0"/>
                  </a:rPr>
                  <a:t>β</a:t>
                </a:r>
                <a:r>
                  <a:rPr lang="it-IT" sz="1200" noProof="1">
                    <a:solidFill>
                      <a:srgbClr val="125E4B"/>
                    </a:solidFill>
                    <a:ea typeface="Cambria Math" panose="02040503050406030204" pitchFamily="18" charset="0"/>
                  </a:rPr>
                  <a:t>-level confidence interval of the distribution.</a:t>
                </a:r>
              </a:p>
              <a:p>
                <a:pPr marL="8691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i="0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i="0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b="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it-IT" sz="1200" b="0" i="1" noProof="1">
                  <a:solidFill>
                    <a:srgbClr val="125E4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8691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it-IT" sz="1200" i="1" noProof="1" smtClean="0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∼</m:t>
                      </m:r>
                      <m:r>
                        <a:rPr lang="it-IT" sz="1200" b="0" i="1" noProof="1" smtClean="0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𝐷𝑇</m:t>
                      </m:r>
                      <m:d>
                        <m:dPr>
                          <m:ctrlP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b="0" i="1" noProof="1" smtClean="0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it-IT" sz="1200" b="0" i="1" noProof="1">
                  <a:solidFill>
                    <a:srgbClr val="125E4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Google Shape;703;p114">
                <a:extLst>
                  <a:ext uri="{FF2B5EF4-FFF2-40B4-BE49-F238E27FC236}">
                    <a16:creationId xmlns:a16="http://schemas.microsoft.com/office/drawing/2014/main" id="{BC560D40-91EB-9882-C2E4-FD172E49D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342899" y="3077876"/>
                <a:ext cx="5298620" cy="179014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Google Shape;10527;p9415">
            <a:extLst>
              <a:ext uri="{FF2B5EF4-FFF2-40B4-BE49-F238E27FC236}">
                <a16:creationId xmlns:a16="http://schemas.microsoft.com/office/drawing/2014/main" id="{81D52D0B-6F04-4A96-3458-05657D77685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42899" y="985595"/>
            <a:ext cx="5298620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Time Probability Distributions</a:t>
            </a:r>
          </a:p>
        </p:txBody>
      </p:sp>
      <p:sp>
        <p:nvSpPr>
          <p:cNvPr id="5" name="Google Shape;10527;p9415">
            <a:extLst>
              <a:ext uri="{FF2B5EF4-FFF2-40B4-BE49-F238E27FC236}">
                <a16:creationId xmlns:a16="http://schemas.microsoft.com/office/drawing/2014/main" id="{460C3337-6F77-C401-C7A6-62378EC1D10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42899" y="2777595"/>
            <a:ext cx="5298620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Statistical Metrics</a:t>
            </a: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904523B-3A57-31B2-E22F-6EDD4D95B66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5699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3AA0-38A0-70CC-D1AF-1A97C0F3B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C599331-C01F-DBB0-C92D-E2B90B93BB1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7772400" imgH="10058400" progId="TCLayout.ActiveDocument.1">
                  <p:embed/>
                </p:oleObj>
              </mc:Choice>
              <mc:Fallback>
                <p:oleObj name="think-cell Slide" r:id="rId11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599331-C01F-DBB0-C92D-E2B90B93B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A6CF387-DC16-1CF2-5ADF-D898271AFBD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Implementation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71C4AEE-3D21-E7E7-8CC7-86E86AD2CA3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HISTORICAL INDICATORS</a:t>
            </a:r>
          </a:p>
        </p:txBody>
      </p:sp>
      <p:sp>
        <p:nvSpPr>
          <p:cNvPr id="19" name="Google Shape;703;p114">
            <a:extLst>
              <a:ext uri="{FF2B5EF4-FFF2-40B4-BE49-F238E27FC236}">
                <a16:creationId xmlns:a16="http://schemas.microsoft.com/office/drawing/2014/main" id="{FEF75950-A634-3B8C-6DA8-61B651DBBF7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8" y="1501904"/>
            <a:ext cx="3886199" cy="848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en-US" sz="1200" b="1" dirty="0"/>
              <a:t>Gamma distributions</a:t>
            </a:r>
            <a:r>
              <a:rPr lang="en-US" sz="1200" dirty="0"/>
              <a:t> chosen for their established use in supply-chain literature.</a:t>
            </a:r>
            <a:endParaRPr lang="en-US" sz="1200" noProof="1"/>
          </a:p>
          <a:p>
            <a:pPr>
              <a:spcAft>
                <a:spcPts val="600"/>
              </a:spcAft>
              <a:buClrTx/>
            </a:pPr>
            <a:r>
              <a:rPr lang="en-US" sz="1200" b="1" dirty="0"/>
              <a:t>Parameter estimation </a:t>
            </a:r>
            <a:r>
              <a:rPr lang="en-US" sz="1200" dirty="0"/>
              <a:t>via </a:t>
            </a:r>
            <a:r>
              <a:rPr lang="en-US" sz="1200" b="1" dirty="0"/>
              <a:t>Maximum Likelihood Estimation</a:t>
            </a:r>
            <a:r>
              <a:rPr lang="en-US" sz="1200" dirty="0"/>
              <a:t>.</a:t>
            </a:r>
          </a:p>
        </p:txBody>
      </p:sp>
      <p:sp>
        <p:nvSpPr>
          <p:cNvPr id="21" name="Google Shape;703;p114">
            <a:extLst>
              <a:ext uri="{FF2B5EF4-FFF2-40B4-BE49-F238E27FC236}">
                <a16:creationId xmlns:a16="http://schemas.microsoft.com/office/drawing/2014/main" id="{BC1E4DCA-D5CD-451D-B8BB-A6F5B74B941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837346" y="1501904"/>
            <a:ext cx="3886199" cy="1068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ClrTx/>
            </a:pPr>
            <a:r>
              <a:rPr lang="en-US" sz="1200" b="1" dirty="0"/>
              <a:t>Outlier removal:</a:t>
            </a:r>
            <a:r>
              <a:rPr lang="en-US" sz="1200" dirty="0"/>
              <a:t> Interquartile Range (IQR) method.</a:t>
            </a:r>
            <a:r>
              <a:rPr lang="en-US" sz="1200" noProof="1"/>
              <a:t>
</a:t>
            </a:r>
            <a:r>
              <a:rPr lang="en-US" sz="1200" b="1" dirty="0"/>
              <a:t>Goodness-of-fit checks:</a:t>
            </a:r>
            <a:r>
              <a:rPr lang="en-US" sz="1200" dirty="0"/>
              <a:t> Q–Q plots and histograms.</a:t>
            </a:r>
            <a:r>
              <a:rPr lang="en-US" sz="1200" noProof="1"/>
              <a:t>
</a:t>
            </a:r>
            <a:r>
              <a:rPr lang="en-US" sz="1200" b="1" dirty="0"/>
              <a:t>Statistical validation:</a:t>
            </a:r>
            <a:r>
              <a:rPr lang="en-US" sz="1200" dirty="0"/>
              <a:t> Kolmogorov–Smirnov tests show no evidence against the Gamma assumption.</a:t>
            </a:r>
          </a:p>
          <a:p>
            <a:pPr>
              <a:spcAft>
                <a:spcPts val="600"/>
              </a:spcAft>
              <a:buClrTx/>
            </a:pPr>
            <a:endParaRPr lang="en-US" sz="1200" noProof="1"/>
          </a:p>
        </p:txBody>
      </p:sp>
      <p:sp>
        <p:nvSpPr>
          <p:cNvPr id="2" name="Google Shape;10527;p9415">
            <a:extLst>
              <a:ext uri="{FF2B5EF4-FFF2-40B4-BE49-F238E27FC236}">
                <a16:creationId xmlns:a16="http://schemas.microsoft.com/office/drawing/2014/main" id="{C35F7356-7D6A-5003-265D-A8669E39040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42898" y="997840"/>
            <a:ext cx="388620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Theoretical Distribution</a:t>
            </a:r>
          </a:p>
        </p:txBody>
      </p:sp>
      <p:sp>
        <p:nvSpPr>
          <p:cNvPr id="4" name="Google Shape;10527;p9415">
            <a:extLst>
              <a:ext uri="{FF2B5EF4-FFF2-40B4-BE49-F238E27FC236}">
                <a16:creationId xmlns:a16="http://schemas.microsoft.com/office/drawing/2014/main" id="{1EDCE899-1272-FC4C-F46D-5E0CC8B6316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837346" y="1001016"/>
            <a:ext cx="3886200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Fitting Procedure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0F135-5972-EFA8-9BE2-10616243A8A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2898" y="2385485"/>
            <a:ext cx="3963758" cy="1985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F12FB5-B31B-A510-EB03-4AF10BAF173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609435" y="2638876"/>
            <a:ext cx="4114109" cy="1731628"/>
          </a:xfrm>
          <a:prstGeom prst="rect">
            <a:avLst/>
          </a:prstGeom>
        </p:spPr>
      </p:pic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B5C18BE-B3D4-4A74-8A53-04FED5803F4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7462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5727A-9A18-8DC1-0E1B-363E6CD83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EBE351-F469-37C1-EC78-05F7E23C3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E3FAD3-3D27-5CAD-6C15-C7284CF2D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3F1D2D-2FCE-8D65-49CE-7B7C3CF36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BC64A7-7F09-1620-DCC1-575FBF8B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143B65-BB67-64BE-B7D9-FC148356F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7F121C-D9B2-A775-D5C0-7FB3C608B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664" y="614238"/>
            <a:ext cx="3984667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</a:rPr>
              <a:t>Realtime Indicators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BF33E-300D-9E49-9D3B-2D8AD9A13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71C8B9-AFCB-5369-9D88-F1991B406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99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4E04-938E-AFC5-7E43-D18639A4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EB6476CD-DBFC-4915-5F6D-A1E906D4E78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6476CD-DBFC-4915-5F6D-A1E906D4E7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4013419-C069-D20B-EE9E-88BFDA78072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2900" y="411480"/>
            <a:ext cx="5629275" cy="588212"/>
          </a:xfrm>
        </p:spPr>
        <p:txBody>
          <a:bodyPr vert="horz" lIns="0" tIns="68580" rIns="0" bIns="34290" rtlCol="0" anchor="t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Overview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AB9745F-3166-3830-1DB1-E4B35E2CD48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Realtime Indicators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086C34C7-B53B-C6A3-398D-77B115ED7E32}"/>
              </a:ext>
            </a:extLst>
          </p:cNvPr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915892" y="1"/>
            <a:ext cx="3228108" cy="5143500"/>
          </a:xfrm>
          <a:solidFill>
            <a:schemeClr val="bg2"/>
          </a:solidFill>
        </p:spPr>
        <p:txBody>
          <a:bodyPr lIns="342900" tIns="68580" rIns="274320" bIns="6858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500"/>
              </a:spcBef>
            </a:pPr>
            <a:r>
              <a:rPr lang="en-US" sz="1400" b="1" dirty="0">
                <a:solidFill>
                  <a:srgbClr val="125E4B"/>
                </a:solidFill>
              </a:rPr>
              <a:t>Realtime indicators</a:t>
            </a:r>
            <a:r>
              <a:rPr lang="en-US" sz="1400" dirty="0">
                <a:solidFill>
                  <a:srgbClr val="125E4B"/>
                </a:solidFill>
              </a:rPr>
              <a:t> are statistical measures that provide actionable insights into the current state of the </a:t>
            </a:r>
            <a:r>
              <a:rPr lang="en-US" sz="1400" b="1" dirty="0">
                <a:solidFill>
                  <a:srgbClr val="125E4B"/>
                </a:solidFill>
              </a:rPr>
              <a:t>supply chain, </a:t>
            </a:r>
            <a:r>
              <a:rPr lang="en-US" sz="1400" dirty="0">
                <a:solidFill>
                  <a:srgbClr val="125E4B"/>
                </a:solidFill>
              </a:rPr>
              <a:t>combining:</a:t>
            </a:r>
            <a:r>
              <a:rPr lang="en-US" sz="1400" b="1" dirty="0">
                <a:solidFill>
                  <a:srgbClr val="125E4B"/>
                </a:solidFill>
              </a:rPr>
              <a:t> </a:t>
            </a:r>
            <a:endParaRPr lang="en-US" sz="1400" dirty="0">
              <a:solidFill>
                <a:srgbClr val="125E4B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25E4B"/>
                </a:solidFill>
              </a:rPr>
              <a:t>Historical indicators.</a:t>
            </a: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25E4B"/>
                </a:solidFill>
              </a:rPr>
              <a:t>Supply chain graph.</a:t>
            </a:r>
          </a:p>
          <a:p>
            <a:pPr marL="285750" indent="-28575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25E4B"/>
                </a:solidFill>
              </a:rPr>
              <a:t>Real-time data.</a:t>
            </a:r>
          </a:p>
        </p:txBody>
      </p:sp>
      <p:sp>
        <p:nvSpPr>
          <p:cNvPr id="18" name="Google Shape;10527;p9415">
            <a:extLst>
              <a:ext uri="{FF2B5EF4-FFF2-40B4-BE49-F238E27FC236}">
                <a16:creationId xmlns:a16="http://schemas.microsoft.com/office/drawing/2014/main" id="{661A168F-2573-A9DF-9D09-21833ACCD59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42898" y="997839"/>
            <a:ext cx="5298621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Realtime Indicators Hierarchy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5360A1-CC52-9DBA-484F-4F1FE0FF9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610124"/>
              </p:ext>
            </p:extLst>
          </p:nvPr>
        </p:nvGraphicFramePr>
        <p:xfrm>
          <a:off x="342898" y="1745933"/>
          <a:ext cx="5298622" cy="1854200"/>
        </p:xfrm>
        <a:graphic>
          <a:graphicData uri="http://schemas.openxmlformats.org/drawingml/2006/table">
            <a:tbl>
              <a:tblPr firstRow="1" bandRow="1">
                <a:tableStyleId>{63B48042-AE31-4177-9097-B33D8566F184}</a:tableStyleId>
              </a:tblPr>
              <a:tblGrid>
                <a:gridCol w="2649311">
                  <a:extLst>
                    <a:ext uri="{9D8B030D-6E8A-4147-A177-3AD203B41FA5}">
                      <a16:colId xmlns:a16="http://schemas.microsoft.com/office/drawing/2014/main" val="2084918660"/>
                    </a:ext>
                  </a:extLst>
                </a:gridCol>
                <a:gridCol w="2649311">
                  <a:extLst>
                    <a:ext uri="{9D8B030D-6E8A-4147-A177-3AD203B41FA5}">
                      <a16:colId xmlns:a16="http://schemas.microsoft.com/office/drawing/2014/main" val="825988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latin typeface="+mn-lt"/>
                        </a:rPr>
                        <a:t>Granularity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latin typeface="+mn-lt"/>
                        </a:rPr>
                        <a:t>Scope</a:t>
                      </a:r>
                      <a:endParaRPr lang="en-US" sz="1200" b="1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742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+mn-lt"/>
                        </a:rPr>
                        <a:t>Vertex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+mn-lt"/>
                        </a:rPr>
                        <a:t>Supplier and carrier facility.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68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dirty="0" err="1">
                          <a:latin typeface="+mn-lt"/>
                        </a:rPr>
                        <a:t>Route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+mn-lt"/>
                        </a:rPr>
                        <a:t>Carrier </a:t>
                      </a:r>
                      <a:r>
                        <a:rPr lang="it-IT" sz="1200" dirty="0" err="1">
                          <a:latin typeface="+mn-lt"/>
                        </a:rPr>
                        <a:t>route</a:t>
                      </a:r>
                      <a:r>
                        <a:rPr lang="it-IT" sz="1200" dirty="0">
                          <a:latin typeface="+mn-lt"/>
                        </a:rPr>
                        <a:t> </a:t>
                      </a:r>
                      <a:r>
                        <a:rPr lang="it-IT" sz="1200" dirty="0" err="1">
                          <a:latin typeface="+mn-lt"/>
                        </a:rPr>
                        <a:t>between</a:t>
                      </a:r>
                      <a:r>
                        <a:rPr lang="it-IT" sz="1200" dirty="0">
                          <a:latin typeface="+mn-lt"/>
                        </a:rPr>
                        <a:t> </a:t>
                      </a:r>
                      <a:r>
                        <a:rPr lang="it-IT" sz="1200" dirty="0" err="1">
                          <a:latin typeface="+mn-lt"/>
                        </a:rPr>
                        <a:t>two</a:t>
                      </a:r>
                      <a:r>
                        <a:rPr lang="it-IT" sz="1200" dirty="0">
                          <a:latin typeface="+mn-lt"/>
                        </a:rPr>
                        <a:t> locations.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679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dirty="0" err="1">
                          <a:latin typeface="+mn-lt"/>
                        </a:rPr>
                        <a:t>Path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+mn-lt"/>
                        </a:rPr>
                        <a:t>Supplier to </a:t>
                      </a:r>
                      <a:r>
                        <a:rPr lang="it-IT" sz="1200" dirty="0" err="1">
                          <a:latin typeface="+mn-lt"/>
                        </a:rPr>
                        <a:t>manufacturer</a:t>
                      </a:r>
                      <a:r>
                        <a:rPr lang="it-IT" sz="1200" dirty="0">
                          <a:latin typeface="+mn-lt"/>
                        </a:rPr>
                        <a:t> carrier </a:t>
                      </a:r>
                      <a:r>
                        <a:rPr lang="it-IT" sz="1200" dirty="0" err="1">
                          <a:latin typeface="+mn-lt"/>
                        </a:rPr>
                        <a:t>path</a:t>
                      </a:r>
                      <a:r>
                        <a:rPr lang="it-IT" sz="1200" dirty="0">
                          <a:latin typeface="+mn-lt"/>
                        </a:rPr>
                        <a:t>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719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dirty="0" err="1">
                          <a:latin typeface="+mn-lt"/>
                        </a:rPr>
                        <a:t>Graph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+mn-lt"/>
                        </a:rPr>
                        <a:t>Overall supply chain network.</a:t>
                      </a:r>
                      <a:endParaRPr lang="en-US" sz="1200" dirty="0">
                        <a:latin typeface="+mn-lt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514374"/>
                  </a:ext>
                </a:extLst>
              </a:tr>
            </a:tbl>
          </a:graphicData>
        </a:graphic>
      </p:graphicFrame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8919F034-22FD-A279-6064-EE641293E9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5670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ECB2-C1B0-9D52-6557-45D02479C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3E14B35-BB4E-0566-E12B-0C9F38AE641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7772400" imgH="10058400" progId="TCLayout.ActiveDocument.1">
                  <p:embed/>
                </p:oleObj>
              </mc:Choice>
              <mc:Fallback>
                <p:oleObj name="think-cell Slide" r:id="rId11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599331-C01F-DBB0-C92D-E2B90B93B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D012EBF-E361-93F4-4D60-3E5AF00F14B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Definition (1)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E170BDF-B69B-AB45-17E1-CEA2B824181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HISTORICAL INDICATORS</a:t>
            </a:r>
          </a:p>
        </p:txBody>
      </p:sp>
      <p:sp>
        <p:nvSpPr>
          <p:cNvPr id="2" name="Google Shape;10527;p9415">
            <a:extLst>
              <a:ext uri="{FF2B5EF4-FFF2-40B4-BE49-F238E27FC236}">
                <a16:creationId xmlns:a16="http://schemas.microsoft.com/office/drawing/2014/main" id="{6AB0B340-8323-EFCB-D7FB-04F08A540FB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9" y="994664"/>
            <a:ext cx="3959680" cy="29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Vertex Level</a:t>
            </a:r>
          </a:p>
        </p:txBody>
      </p:sp>
      <p:sp>
        <p:nvSpPr>
          <p:cNvPr id="4" name="Google Shape;10527;p9415">
            <a:extLst>
              <a:ext uri="{FF2B5EF4-FFF2-40B4-BE49-F238E27FC236}">
                <a16:creationId xmlns:a16="http://schemas.microsoft.com/office/drawing/2014/main" id="{391AAEC1-DDEC-9F40-A422-8DBCE970E9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780195" y="997840"/>
            <a:ext cx="4018524" cy="29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Route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703;p114">
                <a:extLst>
                  <a:ext uri="{FF2B5EF4-FFF2-40B4-BE49-F238E27FC236}">
                    <a16:creationId xmlns:a16="http://schemas.microsoft.com/office/drawing/2014/main" id="{EA107ACE-DD8A-7B0E-629E-85EF715F7277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42899" y="1289052"/>
                <a:ext cx="3959680" cy="322697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9FBCB4"/>
                </a:solidFill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Estimated Dispatch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ED</m:t>
                    </m:r>
                    <m:sSub>
                      <m:sSubPr>
                        <m:ctrlPr>
                          <a:rPr lang="en-US" sz="120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b="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): 	             Scalar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Based on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DT</m:t>
                    </m:r>
                  </m:oMath>
                </a14:m>
                <a:r>
                  <a:rPr lang="en-US" sz="1200" b="1" noProof="1">
                    <a:solidFill>
                      <a:srgbClr val="125E4B"/>
                    </a:solidFill>
                  </a:rPr>
                  <a:t> historical indicator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.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Includes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national holidays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to estimate the dispatch time of a supplier site.</a:t>
                </a:r>
              </a:p>
              <a:p>
                <a:pPr marL="261938" indent="-175022">
                  <a:spcAft>
                    <a:spcPts val="600"/>
                  </a:spcAft>
                </a:pPr>
                <a:endParaRPr lang="en-US" sz="1200" b="1" noProof="1">
                  <a:solidFill>
                    <a:srgbClr val="125E4B"/>
                  </a:solidFill>
                </a:endParaRPr>
              </a:p>
              <a:p>
                <a:pPr marL="261938" indent="-175022">
                  <a:spcAft>
                    <a:spcPts val="600"/>
                  </a:spcAft>
                </a:pPr>
                <a:endParaRPr lang="en-US" sz="1200" b="1" noProof="1">
                  <a:solidFill>
                    <a:srgbClr val="125E4B"/>
                  </a:solidFill>
                </a:endParaRPr>
              </a:p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Vertex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V</m:t>
                    </m:r>
                    <m:sSub>
                      <m:sSubPr>
                        <m:ctrlPr>
                          <a:rPr lang="en-US" sz="120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b="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):			              Interval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Based on the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historical processing time distribution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of a carrier facility.</a:t>
                </a:r>
              </a:p>
              <a:p>
                <a:pPr marL="258366" indent="-17145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Provides a </a:t>
                </a:r>
                <a:r>
                  <a:rPr lang="el-GR" sz="1200" b="1" noProof="1">
                    <a:solidFill>
                      <a:srgbClr val="125E4B"/>
                    </a:solidFill>
                  </a:rPr>
                  <a:t>β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-level confidence interval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of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the facility processing time.</a:t>
                </a:r>
                <a:endParaRPr lang="en-US" sz="1200" b="0" i="1" noProof="1">
                  <a:solidFill>
                    <a:srgbClr val="125E4B"/>
                  </a:solidFill>
                  <a:latin typeface="Cambria Math" panose="02040503050406030204" pitchFamily="18" charset="0"/>
                </a:endParaRPr>
              </a:p>
              <a:p>
                <a:pPr marL="261938" indent="-175022">
                  <a:spcAft>
                    <a:spcPts val="600"/>
                  </a:spcAft>
                </a:pPr>
                <a:endParaRPr lang="en-US" sz="1200" noProof="1"/>
              </a:p>
              <a:p>
                <a:pPr marL="261938" indent="-175022">
                  <a:spcAft>
                    <a:spcPts val="600"/>
                  </a:spcAft>
                </a:pPr>
                <a:endParaRPr lang="it-IT" sz="1200" b="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Google Shape;703;p114">
                <a:extLst>
                  <a:ext uri="{FF2B5EF4-FFF2-40B4-BE49-F238E27FC236}">
                    <a16:creationId xmlns:a16="http://schemas.microsoft.com/office/drawing/2014/main" id="{EA107ACE-DD8A-7B0E-629E-85EF715F7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342899" y="1289052"/>
                <a:ext cx="3959680" cy="3226970"/>
              </a:xfrm>
              <a:prstGeom prst="rect">
                <a:avLst/>
              </a:prstGeom>
              <a:blipFill>
                <a:blip r:embed="rId14"/>
                <a:stretch>
                  <a:fillRect r="-920"/>
                </a:stretch>
              </a:blipFill>
              <a:ln>
                <a:solidFill>
                  <a:srgbClr val="9FBCB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703;p114">
                <a:extLst>
                  <a:ext uri="{FF2B5EF4-FFF2-40B4-BE49-F238E27FC236}">
                    <a16:creationId xmlns:a16="http://schemas.microsoft.com/office/drawing/2014/main" id="{FC88DA11-955B-F5BB-692C-77EBCD512450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780195" y="1281793"/>
                <a:ext cx="4018524" cy="323422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accent1"/>
                </a:solidFill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Traffic &amp; Weather Meta Index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TMI</m:t>
                    </m:r>
                    <m: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WMI</m:t>
                    </m:r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	                  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Scalar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Based on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real-time data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retrieved from external services.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Provide a measurement of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traffic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and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 weather impacts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on carrier routes.</a:t>
                </a:r>
              </a:p>
              <a:p>
                <a:pPr marL="261938" indent="-175022">
                  <a:spcAft>
                    <a:spcPts val="600"/>
                  </a:spcAft>
                </a:pPr>
                <a:endParaRPr lang="en-US" sz="1200" noProof="1">
                  <a:solidFill>
                    <a:srgbClr val="125E4B"/>
                  </a:solidFill>
                </a:endParaRPr>
              </a:p>
              <a:p>
                <a:pPr marL="261938" indent="-175022">
                  <a:spcAft>
                    <a:spcPts val="600"/>
                  </a:spcAft>
                </a:pPr>
                <a:endParaRPr lang="en-US" sz="1200" noProof="1">
                  <a:solidFill>
                    <a:srgbClr val="125E4B"/>
                  </a:solidFill>
                </a:endParaRPr>
              </a:p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Route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R</m:t>
                    </m:r>
                    <m:sSub>
                      <m:sSubPr>
                        <m:ctrlPr>
                          <a:rPr lang="en-US" sz="120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b="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): 			                   Interval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Based on the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historical travel time distribution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of carrier routes.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Provides a </a:t>
                </a:r>
                <a:r>
                  <a:rPr lang="el-GR" sz="1200" b="1" noProof="1">
                    <a:solidFill>
                      <a:srgbClr val="125E4B"/>
                    </a:solidFill>
                  </a:rPr>
                  <a:t>β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-level confidence interval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of the route travel time.</a:t>
                </a:r>
              </a:p>
            </p:txBody>
          </p:sp>
        </mc:Choice>
        <mc:Fallback xmlns="">
          <p:sp>
            <p:nvSpPr>
              <p:cNvPr id="10" name="Google Shape;703;p114">
                <a:extLst>
                  <a:ext uri="{FF2B5EF4-FFF2-40B4-BE49-F238E27FC236}">
                    <a16:creationId xmlns:a16="http://schemas.microsoft.com/office/drawing/2014/main" id="{FC88DA11-955B-F5BB-692C-77EBCD512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4780195" y="1281793"/>
                <a:ext cx="4018524" cy="32342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06A1287-E842-FC07-E650-CE69BAF23D2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841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F3215-73A4-9591-650D-69AAB39A4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7295828-B379-AAA8-44FE-DEB08952C6D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7772400" imgH="10058400" progId="TCLayout.ActiveDocument.1">
                  <p:embed/>
                </p:oleObj>
              </mc:Choice>
              <mc:Fallback>
                <p:oleObj name="think-cell Slide" r:id="rId11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E14B35-BB4E-0566-E12B-0C9F38AE64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68050DB-BE12-341D-71E4-F4DA6346FE6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Definition (2)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9FD3A9C-DC8F-5F8B-13F7-28C9EE5B7E4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HISTORICAL INDICATORS</a:t>
            </a:r>
          </a:p>
        </p:txBody>
      </p:sp>
      <p:sp>
        <p:nvSpPr>
          <p:cNvPr id="2" name="Google Shape;10527;p9415">
            <a:extLst>
              <a:ext uri="{FF2B5EF4-FFF2-40B4-BE49-F238E27FC236}">
                <a16:creationId xmlns:a16="http://schemas.microsoft.com/office/drawing/2014/main" id="{7F550873-C004-A305-7FF3-C402252DF9C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8" y="994664"/>
            <a:ext cx="3961373" cy="29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Path Level</a:t>
            </a:r>
          </a:p>
        </p:txBody>
      </p:sp>
      <p:sp>
        <p:nvSpPr>
          <p:cNvPr id="4" name="Google Shape;10527;p9415">
            <a:extLst>
              <a:ext uri="{FF2B5EF4-FFF2-40B4-BE49-F238E27FC236}">
                <a16:creationId xmlns:a16="http://schemas.microsoft.com/office/drawing/2014/main" id="{19BB1103-4CCC-D7E8-2225-3FC156AD50F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780195" y="997840"/>
            <a:ext cx="4018524" cy="29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Graph Level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703;p114">
                <a:extLst>
                  <a:ext uri="{FF2B5EF4-FFF2-40B4-BE49-F238E27FC236}">
                    <a16:creationId xmlns:a16="http://schemas.microsoft.com/office/drawing/2014/main" id="{7DE75F62-39CE-3414-3420-99A1EA8125CC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780195" y="1281793"/>
                <a:ext cx="4018524" cy="3092333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9FBCB4"/>
                </a:solidFill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Expected Path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1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1200" b="1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1200" b="1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PT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</a:t>
                </a:r>
                <a14:m>
                  <m:oMath xmlns:m="http://schemas.openxmlformats.org/officeDocument/2006/math">
                    <m:r>
                      <a:rPr lang="en-US" sz="1200" i="1" noProof="1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		                Interval     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Combines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PT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sub>
                    </m:sSub>
                  </m:oMath>
                </a14:m>
                <a:r>
                  <a:rPr lang="en-US" sz="1200" b="1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estimations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over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all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the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possible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paths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from a vertex to the manufacturer according to their likelihood.</a:t>
                </a:r>
              </a:p>
              <a:p>
                <a:pPr marL="261938" indent="-17502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PT</m:t>
                          </m:r>
                        </m:e>
                        <m:sub>
                          <m:r>
                            <a:rPr lang="en-US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sup>
                        <m:e>
                          <m:sSubSup>
                            <m:sSubSup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bSup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it-IT" sz="1200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sSub>
                            <m:sSubPr>
                              <m:ctrlP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200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it-IT" sz="1200" i="1" noProof="1">
                  <a:solidFill>
                    <a:srgbClr val="125E4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61938" indent="-175022">
                  <a:lnSpc>
                    <a:spcPct val="200000"/>
                  </a:lnSpc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Total Forecasted Shipment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200" i="1" noProof="1">
                        <a:solidFill>
                          <a:srgbClr val="125E4B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TFST</m:t>
                    </m:r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): 	                Interval        </a:t>
                </a:r>
              </a:p>
              <a:p>
                <a:pPr marL="261938" indent="-175022">
                  <a:lnSpc>
                    <a:spcPct val="200000"/>
                  </a:lnSpc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Convex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combination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noProof="1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T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it-IT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120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P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.</a:t>
                </a:r>
              </a:p>
              <a:p>
                <a:pPr marL="261938" indent="-17502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TFST</m:t>
                      </m:r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TT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+(1−</m:t>
                      </m:r>
                      <m:r>
                        <m:rPr>
                          <m:sty m:val="p"/>
                        </m:rP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⋅</m:t>
                      </m:r>
                      <m:sSub>
                        <m:sSubPr>
                          <m:ctrlP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1200" b="1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PT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it-IT" sz="1200" i="1" noProof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61938" indent="-175022">
                  <a:spcAft>
                    <a:spcPts val="600"/>
                  </a:spcAft>
                </a:pPr>
                <a:endParaRPr lang="en-US" sz="1200" noProof="1"/>
              </a:p>
            </p:txBody>
          </p:sp>
        </mc:Choice>
        <mc:Fallback>
          <p:sp>
            <p:nvSpPr>
              <p:cNvPr id="10" name="Google Shape;703;p114">
                <a:extLst>
                  <a:ext uri="{FF2B5EF4-FFF2-40B4-BE49-F238E27FC236}">
                    <a16:creationId xmlns:a16="http://schemas.microsoft.com/office/drawing/2014/main" id="{7DE75F62-39CE-3414-3420-99A1EA812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4780195" y="1281793"/>
                <a:ext cx="4018524" cy="3092333"/>
              </a:xfrm>
              <a:prstGeom prst="rect">
                <a:avLst/>
              </a:prstGeom>
              <a:blipFill>
                <a:blip r:embed="rId13"/>
                <a:stretch>
                  <a:fillRect r="-3026"/>
                </a:stretch>
              </a:blipFill>
              <a:ln>
                <a:solidFill>
                  <a:srgbClr val="9FBCB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Google Shape;703;p114">
                <a:extLst>
                  <a:ext uri="{FF2B5EF4-FFF2-40B4-BE49-F238E27FC236}">
                    <a16:creationId xmlns:a16="http://schemas.microsoft.com/office/drawing/2014/main" id="{19340BDF-3D1E-735A-B58C-36A841CD06A7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42900" y="1289052"/>
                <a:ext cx="3961371" cy="3085392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9FBCB4"/>
                </a:solidFill>
              </a:ln>
            </p:spPr>
            <p:txBody>
              <a:bodyPr spcFirstLastPara="1" wrap="square" lIns="68580" tIns="68580" rIns="68580" bIns="0" anchor="t" anchorCtr="0">
                <a:noAutofit/>
              </a:bodyPr>
              <a:lstStyle>
                <a:defPPr>
                  <a:defRPr lang="en-US"/>
                </a:defPPr>
                <a:lvl1pPr marL="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5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3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200" algn="l" defTabSz="685800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61938" indent="-175022"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Path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P</m:t>
                    </m:r>
                    <m:sSub>
                      <m:sSubPr>
                        <m:ctrlPr>
                          <a:rPr lang="en-US" sz="1200" b="1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b="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): 			              Interval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Based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V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b="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noProof="1" smtClean="0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R</m:t>
                    </m:r>
                    <m:sSub>
                      <m:sSubPr>
                        <m:ctrlPr>
                          <a:rPr lang="en-US" sz="1200" i="1" noProof="1" smtClean="0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b="0" i="0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b="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realtime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indicators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.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dirty="0">
                    <a:solidFill>
                      <a:srgbClr val="125E4B"/>
                    </a:solidFill>
                  </a:rPr>
                  <a:t>Aggregates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vertex</a:t>
                </a:r>
                <a:r>
                  <a:rPr lang="en-US" sz="1200" dirty="0">
                    <a:solidFill>
                      <a:srgbClr val="125E4B"/>
                    </a:solidFill>
                  </a:rPr>
                  <a:t> and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route</a:t>
                </a:r>
                <a:r>
                  <a:rPr lang="en-US" sz="1200" dirty="0">
                    <a:solidFill>
                      <a:srgbClr val="125E4B"/>
                    </a:solidFill>
                  </a:rPr>
                  <a:t>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time</a:t>
                </a:r>
                <a:r>
                  <a:rPr lang="en-US" sz="1200" dirty="0">
                    <a:solidFill>
                      <a:srgbClr val="125E4B"/>
                    </a:solidFill>
                  </a:rPr>
                  <a:t>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intervals</a:t>
                </a:r>
                <a:r>
                  <a:rPr lang="en-US" sz="1200" dirty="0">
                    <a:solidFill>
                      <a:srgbClr val="125E4B"/>
                    </a:solidFill>
                  </a:rPr>
                  <a:t> along a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path</a:t>
                </a:r>
                <a:r>
                  <a:rPr lang="en-US" sz="1200" dirty="0">
                    <a:solidFill>
                      <a:srgbClr val="125E4B"/>
                    </a:solidFill>
                  </a:rPr>
                  <a:t> to estimate the shipment’s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remaining</a:t>
                </a:r>
                <a:r>
                  <a:rPr lang="en-US" sz="1200" dirty="0">
                    <a:solidFill>
                      <a:srgbClr val="125E4B"/>
                    </a:solidFill>
                  </a:rPr>
                  <a:t>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duration</a:t>
                </a:r>
                <a:r>
                  <a:rPr lang="en-US" sz="1200" dirty="0">
                    <a:solidFill>
                      <a:srgbClr val="125E4B"/>
                    </a:solidFill>
                  </a:rPr>
                  <a:t>.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sz="1200" dirty="0">
                  <a:solidFill>
                    <a:srgbClr val="125E4B"/>
                  </a:solidFill>
                </a:endParaRPr>
              </a:p>
              <a:p>
                <a:pPr marL="261938" indent="-175022">
                  <a:spcAft>
                    <a:spcPts val="600"/>
                  </a:spcAft>
                </a:pPr>
                <a:endParaRPr lang="en-US" sz="1200" b="1" noProof="1">
                  <a:solidFill>
                    <a:srgbClr val="125E4B"/>
                  </a:solidFill>
                </a:endParaRPr>
              </a:p>
              <a:p>
                <a:pPr marL="261938" indent="-175022">
                  <a:lnSpc>
                    <a:spcPct val="200000"/>
                  </a:lnSpc>
                  <a:spcAft>
                    <a:spcPts val="600"/>
                  </a:spcAft>
                </a:pPr>
                <a:r>
                  <a:rPr lang="en-US" sz="1200" b="1" noProof="1">
                    <a:solidFill>
                      <a:srgbClr val="125E4B"/>
                    </a:solidFill>
                  </a:rPr>
                  <a:t>Transit Time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noProof="1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T</m:t>
                    </m:r>
                    <m:sSub>
                      <m:sSubPr>
                        <m:ctrlP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1200" i="1" noProof="1">
                            <a:solidFill>
                              <a:srgbClr val="125E4B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): 			              Interval     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Based on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200" noProof="1">
                        <a:solidFill>
                          <a:srgbClr val="125E4B"/>
                        </a:solidFill>
                        <a:latin typeface="Cambria Math" panose="02040503050406030204" pitchFamily="18" charset="0"/>
                      </a:rPr>
                      <m:t>ST</m:t>
                    </m:r>
                  </m:oMath>
                </a14:m>
                <a:r>
                  <a:rPr lang="en-US" sz="1200" noProof="1">
                    <a:solidFill>
                      <a:srgbClr val="125E4B"/>
                    </a:solidFill>
                  </a:rPr>
                  <a:t>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historical indicator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.</a:t>
                </a:r>
              </a:p>
              <a:p>
                <a:pPr marL="261938" indent="-175022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200" noProof="1">
                    <a:solidFill>
                      <a:srgbClr val="125E4B"/>
                    </a:solidFill>
                  </a:rPr>
                  <a:t>Provides a </a:t>
                </a:r>
                <a:r>
                  <a:rPr lang="el-GR" sz="1200" noProof="1">
                    <a:solidFill>
                      <a:srgbClr val="125E4B"/>
                    </a:solidFill>
                  </a:rPr>
                  <a:t>β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-level </a:t>
                </a:r>
                <a:r>
                  <a:rPr lang="en-US" sz="1200" b="1" noProof="1">
                    <a:solidFill>
                      <a:srgbClr val="125E4B"/>
                    </a:solidFill>
                  </a:rPr>
                  <a:t>confidence interval </a:t>
                </a:r>
                <a:r>
                  <a:rPr lang="en-US" sz="1200" noProof="1">
                    <a:solidFill>
                      <a:srgbClr val="125E4B"/>
                    </a:solidFill>
                  </a:rPr>
                  <a:t>of the </a:t>
                </a:r>
                <a:r>
                  <a:rPr lang="en-US" sz="1200" dirty="0">
                    <a:solidFill>
                      <a:srgbClr val="125E4B"/>
                    </a:solidFill>
                  </a:rPr>
                  <a:t>shipment’s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remaining</a:t>
                </a:r>
                <a:r>
                  <a:rPr lang="en-US" sz="1200" dirty="0">
                    <a:solidFill>
                      <a:srgbClr val="125E4B"/>
                    </a:solidFill>
                  </a:rPr>
                  <a:t> </a:t>
                </a:r>
                <a:r>
                  <a:rPr lang="en-US" sz="1200" b="1" dirty="0">
                    <a:solidFill>
                      <a:srgbClr val="125E4B"/>
                    </a:solidFill>
                  </a:rPr>
                  <a:t>duration</a:t>
                </a:r>
                <a:r>
                  <a:rPr lang="en-US" sz="1200" dirty="0">
                    <a:solidFill>
                      <a:srgbClr val="125E4B"/>
                    </a:solidFill>
                  </a:rPr>
                  <a:t>.</a:t>
                </a:r>
                <a:endParaRPr lang="en-US" sz="1200" noProof="1">
                  <a:solidFill>
                    <a:srgbClr val="125E4B"/>
                  </a:solidFill>
                </a:endParaRPr>
              </a:p>
              <a:p>
                <a:pPr marL="261938" indent="-17502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1200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sSub>
                        <m:sSubPr>
                          <m:ctrlPr>
                            <a:rPr lang="en-US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1200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a:rPr lang="en-US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d>
                        <m:dPr>
                          <m:ctrl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it-IT" sz="1200" i="1" noProof="1">
                          <a:solidFill>
                            <a:srgbClr val="125E4B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1200" i="1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sz="1200" noProof="1">
                              <a:solidFill>
                                <a:srgbClr val="125E4B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it-IT" sz="1200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sSub>
                                <m:sSubPr>
                                  <m:ctrlP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200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200" i="1" noProof="1">
                                      <a:solidFill>
                                        <a:srgbClr val="125E4B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it-IT" sz="1200" i="1" noProof="1">
                                  <a:solidFill>
                                    <a:srgbClr val="125E4B"/>
                                  </a:solidFill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200" dirty="0"/>
              </a:p>
              <a:p>
                <a:pPr marL="261938" indent="-175022">
                  <a:spcAft>
                    <a:spcPts val="600"/>
                  </a:spcAft>
                </a:pPr>
                <a:endParaRPr lang="en-US" sz="1200" b="1" noProof="1"/>
              </a:p>
            </p:txBody>
          </p:sp>
        </mc:Choice>
        <mc:Fallback>
          <p:sp>
            <p:nvSpPr>
              <p:cNvPr id="5" name="Google Shape;703;p114">
                <a:extLst>
                  <a:ext uri="{FF2B5EF4-FFF2-40B4-BE49-F238E27FC236}">
                    <a16:creationId xmlns:a16="http://schemas.microsoft.com/office/drawing/2014/main" id="{19340BDF-3D1E-735A-B58C-36A841CD0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342900" y="1289052"/>
                <a:ext cx="3961371" cy="3085392"/>
              </a:xfrm>
              <a:prstGeom prst="rect">
                <a:avLst/>
              </a:prstGeom>
              <a:blipFill>
                <a:blip r:embed="rId14"/>
                <a:stretch>
                  <a:fillRect r="-460"/>
                </a:stretch>
              </a:blipFill>
              <a:ln>
                <a:solidFill>
                  <a:srgbClr val="9FBCB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36B506D0-A1AD-5744-9E1D-968E166CE45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4299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7834A-A7DA-E4FD-5F8A-E9B9F47B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AA94869-8DB6-24EE-7791-D4B378D0955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A94869-8DB6-24EE-7791-D4B378D095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CFCC872-CF2F-2B4B-3C72-D772CE49F120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Implementation (1)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7C64592-B1CF-F5A2-9CF8-FEF4CC960F5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REALTIME INDICATORS</a:t>
            </a:r>
          </a:p>
        </p:txBody>
      </p:sp>
      <p:sp>
        <p:nvSpPr>
          <p:cNvPr id="2" name="Google Shape;10527;p9415">
            <a:extLst>
              <a:ext uri="{FF2B5EF4-FFF2-40B4-BE49-F238E27FC236}">
                <a16:creationId xmlns:a16="http://schemas.microsoft.com/office/drawing/2014/main" id="{0D2ABA2E-D00E-B288-069D-335888AB4B1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8" y="997840"/>
            <a:ext cx="388620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9D79F-6AB0-7CD7-A3F3-572DA6AF619C}"/>
                  </a:ext>
                </a:extLst>
              </p:cNvPr>
              <p:cNvSpPr txBox="1"/>
              <p:nvPr/>
            </p:nvSpPr>
            <p:spPr>
              <a:xfrm>
                <a:off x="4672439" y="1291411"/>
                <a:ext cx="3886201" cy="10012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buClrTx/>
                </a:pPr>
                <a:r>
                  <a:rPr lang="en-US" sz="1200" noProof="1">
                    <a:latin typeface="+mn-lt"/>
                  </a:rPr>
                  <a:t>Implement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noProof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US" sz="1200" noProof="1">
                    <a:latin typeface="+mn-lt"/>
                  </a:rPr>
                  <a:t> as a </a:t>
                </a:r>
                <a:r>
                  <a:rPr lang="en-US" sz="1200" b="1" noProof="1">
                    <a:latin typeface="+mn-lt"/>
                  </a:rPr>
                  <a:t>non-increasing function </a:t>
                </a:r>
                <a:r>
                  <a:rPr lang="en-US" sz="1200" noProof="1">
                    <a:latin typeface="+mn-lt"/>
                  </a:rPr>
                  <a:t>of</a:t>
                </a:r>
                <a:r>
                  <a:rPr lang="en-US" sz="1200" noProof="1"/>
                  <a:t> </a:t>
                </a:r>
                <a:r>
                  <a:rPr lang="en-US" sz="1200" noProof="1">
                    <a:latin typeface="+mn-lt"/>
                  </a:rPr>
                  <a:t>the </a:t>
                </a:r>
                <a:r>
                  <a:rPr lang="en-US" sz="1200" b="1" noProof="1">
                    <a:latin typeface="+mn-lt"/>
                  </a:rPr>
                  <a:t>proportion</a:t>
                </a:r>
                <a:r>
                  <a:rPr lang="en-US" sz="1200" noProof="1">
                    <a:latin typeface="+mn-lt"/>
                  </a:rPr>
                  <a:t> of </a:t>
                </a:r>
                <a:r>
                  <a:rPr lang="en-US" sz="1200" b="1" noProof="1">
                    <a:latin typeface="+mn-lt"/>
                  </a:rPr>
                  <a:t>expected</a:t>
                </a:r>
                <a:r>
                  <a:rPr lang="en-US" sz="1200" noProof="1">
                    <a:latin typeface="+mn-lt"/>
                  </a:rPr>
                  <a:t> </a:t>
                </a:r>
                <a:r>
                  <a:rPr lang="en-US" sz="1200" b="1" noProof="1">
                    <a:latin typeface="+mn-lt"/>
                  </a:rPr>
                  <a:t>shipment</a:t>
                </a:r>
                <a:r>
                  <a:rPr lang="en-US" sz="1200" noProof="1">
                    <a:latin typeface="+mn-lt"/>
                  </a:rPr>
                  <a:t> </a:t>
                </a:r>
                <a:r>
                  <a:rPr lang="en-US" sz="1200" b="1" noProof="1">
                    <a:latin typeface="+mn-lt"/>
                  </a:rPr>
                  <a:t>time </a:t>
                </a:r>
                <a:r>
                  <a:rPr lang="en-US" sz="1200" noProof="1">
                    <a:latin typeface="+mn-lt"/>
                  </a:rPr>
                  <a:t>that has </a:t>
                </a:r>
                <a:r>
                  <a:rPr lang="en-US" sz="1200" b="1" noProof="1">
                    <a:latin typeface="+mn-lt"/>
                  </a:rPr>
                  <a:t>elapsed</a:t>
                </a:r>
                <a:r>
                  <a:rPr lang="en-US" sz="1200" noProof="1">
                    <a:latin typeface="+mn-lt"/>
                  </a:rPr>
                  <a:t>:</a:t>
                </a:r>
              </a:p>
              <a:p>
                <a:pPr>
                  <a:spcAft>
                    <a:spcPts val="600"/>
                  </a:spcAft>
                  <a:buClr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i="1" noProof="1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en-US" sz="1200" noProof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noProof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200" i="1" noProof="1">
                              <a:latin typeface="Cambria Math" panose="02040503050406030204" pitchFamily="18" charset="0"/>
                            </a:rPr>
                            <m:t>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200" noProof="1">
                              <a:latin typeface="Cambria Math" panose="02040503050406030204" pitchFamily="18" charset="0"/>
                            </a:rPr>
                            <m:t>S</m:t>
                          </m:r>
                          <m:sSub>
                            <m:sSubPr>
                              <m:ctrlPr>
                                <a:rPr lang="en-US" sz="1200" i="1" noProof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noProof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a:rPr lang="en-US" sz="1200" i="1" noProof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sz="1200" i="1" noProof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1200" i="1" noProof="1">
                              <a:latin typeface="Cambria Math" panose="02040503050406030204" pitchFamily="18" charset="0"/>
                            </a:rPr>
                            <m:t>s</m:t>
                          </m:r>
                          <m:r>
                            <a:rPr lang="en-US" sz="1200" i="1" noProof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1200" i="1" noProof="1">
                              <a:latin typeface="Cambria Math" panose="02040503050406030204" pitchFamily="18" charset="0"/>
                            </a:rPr>
                            <m:t>c</m:t>
                          </m:r>
                          <m:r>
                            <a:rPr lang="en-US" sz="1200" i="1" noProof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200" noProof="1">
                  <a:latin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9D79F-6AB0-7CD7-A3F3-572DA6AF6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439" y="1291411"/>
                <a:ext cx="3886201" cy="1001236"/>
              </a:xfrm>
              <a:prstGeom prst="rect">
                <a:avLst/>
              </a:prstGeom>
              <a:blipFill>
                <a:blip r:embed="rId11"/>
                <a:stretch>
                  <a:fillRect t="-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0527;p9415">
            <a:extLst>
              <a:ext uri="{FF2B5EF4-FFF2-40B4-BE49-F238E27FC236}">
                <a16:creationId xmlns:a16="http://schemas.microsoft.com/office/drawing/2014/main" id="{FA7FB2D8-B23E-0154-DC1B-672992B4951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72440" y="997840"/>
            <a:ext cx="388620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96EF3-2394-6F1E-1FC0-68E0AEAE698F}"/>
                  </a:ext>
                </a:extLst>
              </p:cNvPr>
              <p:cNvSpPr txBox="1"/>
              <p:nvPr/>
            </p:nvSpPr>
            <p:spPr>
              <a:xfrm>
                <a:off x="3342998" y="4424243"/>
                <a:ext cx="26588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1" i="1">
                          <a:latin typeface="Cambria Math" panose="02040503050406030204" pitchFamily="18" charset="0"/>
                        </a:rPr>
                        <m:t>TFST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1" i="1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1" i="1">
                          <a:latin typeface="Cambria Math" panose="02040503050406030204" pitchFamily="18" charset="0"/>
                        </a:rPr>
                        <m:t>TT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+(1−</m:t>
                      </m:r>
                      <m:r>
                        <m:rPr>
                          <m:sty m:val="p"/>
                        </m:rPr>
                        <a:rPr lang="en-US" b="1" i="1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en-US" b="1" i="1">
                          <a:latin typeface="Cambria Math" panose="02040503050406030204" pitchFamily="18" charset="0"/>
                        </a:rPr>
                        <m:t>PT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96EF3-2394-6F1E-1FC0-68E0AEAE6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998" y="4424243"/>
                <a:ext cx="2658881" cy="307777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A05424-B213-DC0E-7D7C-0C28DDA7031F}"/>
                  </a:ext>
                </a:extLst>
              </p:cNvPr>
              <p:cNvSpPr txBox="1"/>
              <p:nvPr/>
            </p:nvSpPr>
            <p:spPr>
              <a:xfrm>
                <a:off x="342898" y="1285876"/>
                <a:ext cx="3938157" cy="10156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+mn-lt"/>
                  </a:rPr>
                  <a:t>Transit Time</a:t>
                </a:r>
                <a:r>
                  <a:rPr lang="en-US" sz="1200" dirty="0"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0">
                        <a:latin typeface="Cambria Math" panose="02040503050406030204" pitchFamily="18" charset="0"/>
                      </a:rPr>
                      <m:t>TT</m:t>
                    </m:r>
                  </m:oMath>
                </a14:m>
                <a:r>
                  <a:rPr lang="en-US" sz="1200" dirty="0">
                    <a:latin typeface="+mn-lt"/>
                  </a:rPr>
                  <a:t>): effective for on-time shipments; unable to manage advances or delays.</a:t>
                </a:r>
              </a:p>
              <a:p>
                <a:endParaRPr lang="en-US" sz="1200" b="1" dirty="0">
                  <a:latin typeface="+mn-lt"/>
                </a:endParaRPr>
              </a:p>
              <a:p>
                <a:r>
                  <a:rPr lang="en-US" sz="1200" b="1" dirty="0">
                    <a:latin typeface="+mn-lt"/>
                  </a:rPr>
                  <a:t>Path Time</a:t>
                </a:r>
                <a:r>
                  <a:rPr lang="en-US" sz="1200" dirty="0">
                    <a:latin typeface="+mn-lt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0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sz="1200" i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1200" dirty="0">
                    <a:latin typeface="+mn-lt"/>
                  </a:rPr>
                  <a:t>): high uncertainty at the start; able to handle advances and delays.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1A05424-B213-DC0E-7D7C-0C28DDA70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98" y="1285876"/>
                <a:ext cx="3938157" cy="1015663"/>
              </a:xfrm>
              <a:prstGeom prst="rect">
                <a:avLst/>
              </a:prstGeom>
              <a:blipFill>
                <a:blip r:embed="rId13"/>
                <a:stretch>
                  <a:fillRect t="-599" r="-619" b="-35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D260B99-1286-0B99-435C-D0C84C52C3D4}"/>
              </a:ext>
            </a:extLst>
          </p:cNvPr>
          <p:cNvSpPr txBox="1"/>
          <p:nvPr/>
        </p:nvSpPr>
        <p:spPr>
          <a:xfrm>
            <a:off x="342897" y="2940634"/>
            <a:ext cx="388620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ptos Light" panose="020B0004020202020204" pitchFamily="34" charset="0"/>
              </a:rPr>
              <a:t>Early phase:</a:t>
            </a:r>
            <a:r>
              <a:rPr lang="en-US" sz="1200" dirty="0">
                <a:latin typeface="Aptos Light" panose="020B0004020202020204" pitchFamily="34" charset="0"/>
              </a:rPr>
              <a:t> prioritize </a:t>
            </a:r>
            <a:r>
              <a:rPr lang="en-US" sz="1200" b="1" dirty="0">
                <a:latin typeface="Aptos Light" panose="020B0004020202020204" pitchFamily="34" charset="0"/>
              </a:rPr>
              <a:t>Transit Time</a:t>
            </a:r>
            <a:r>
              <a:rPr lang="en-US" sz="1200" dirty="0">
                <a:latin typeface="Aptos Light" panose="020B0004020202020204" pitchFamily="34" charset="0"/>
              </a:rPr>
              <a:t> to manage higher uncertainty and limited timing deviations.</a:t>
            </a:r>
            <a:endParaRPr lang="en-US" sz="1200" b="1" dirty="0">
              <a:latin typeface="Aptos Light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Aptos Light" panose="020B0004020202020204" pitchFamily="34" charset="0"/>
            </a:endParaRPr>
          </a:p>
          <a:p>
            <a:r>
              <a:rPr lang="en-US" sz="1200" b="1" dirty="0">
                <a:latin typeface="Aptos Light" panose="020B0004020202020204" pitchFamily="34" charset="0"/>
              </a:rPr>
              <a:t>Progressing phase:</a:t>
            </a:r>
            <a:r>
              <a:rPr lang="en-US" sz="1200" dirty="0">
                <a:latin typeface="Aptos Light" panose="020B0004020202020204" pitchFamily="34" charset="0"/>
              </a:rPr>
              <a:t> prioritize </a:t>
            </a:r>
            <a:r>
              <a:rPr lang="en-US" sz="1200" b="1" dirty="0">
                <a:latin typeface="Aptos Light" panose="020B0004020202020204" pitchFamily="34" charset="0"/>
              </a:rPr>
              <a:t>Path Time</a:t>
            </a:r>
            <a:r>
              <a:rPr lang="en-US" sz="1200" dirty="0">
                <a:latin typeface="Aptos Light" panose="020B0004020202020204" pitchFamily="34" charset="0"/>
              </a:rPr>
              <a:t> as uncertainty decreases and timing deviations emerge.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6C0FBB-F603-477B-26C9-0F38FA8891B1}"/>
                  </a:ext>
                </a:extLst>
              </p:cNvPr>
              <p:cNvSpPr txBox="1"/>
              <p:nvPr/>
            </p:nvSpPr>
            <p:spPr>
              <a:xfrm>
                <a:off x="4662019" y="2946038"/>
                <a:ext cx="3886201" cy="11623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buClrTx/>
                </a:pPr>
                <a:r>
                  <a:rPr lang="en-US" sz="1200" noProof="1">
                    <a:latin typeface="+mn-lt"/>
                  </a:rPr>
                  <a:t>Three proposed implementations:</a:t>
                </a:r>
              </a:p>
              <a:p>
                <a:pPr marL="228600" indent="-228600">
                  <a:spcAft>
                    <a:spcPts val="600"/>
                  </a:spcAft>
                  <a:buClrTx/>
                  <a:buFont typeface="+mj-lt"/>
                  <a:buAutoNum type="arabicPeriod"/>
                </a:pPr>
                <a:r>
                  <a:rPr lang="en-US" sz="1200" b="1" noProof="1">
                    <a:latin typeface="+mn-lt"/>
                  </a:rPr>
                  <a:t>Constant</a:t>
                </a:r>
                <a:r>
                  <a:rPr lang="en-US" sz="1200" noProof="1"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i="1" noProof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200" i="1" noProof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noProof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1200" i="1" noProof="1">
                  <a:latin typeface="+mn-lt"/>
                </a:endParaRPr>
              </a:p>
              <a:p>
                <a:pPr marL="228600" indent="-228600">
                  <a:spcAft>
                    <a:spcPts val="600"/>
                  </a:spcAft>
                  <a:buClrTx/>
                  <a:buFont typeface="+mj-lt"/>
                  <a:buAutoNum type="arabicPeriod"/>
                </a:pPr>
                <a:r>
                  <a:rPr lang="en-US" sz="1200" b="1" noProof="1">
                    <a:latin typeface="+mn-lt"/>
                  </a:rPr>
                  <a:t>Linear</a:t>
                </a:r>
                <a:r>
                  <a:rPr lang="en-US" sz="1200" noProof="1"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i="1" noProof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sz="1200" b="0" i="1" noProof="1" smtClean="0">
                        <a:latin typeface="Cambria Math" panose="02040503050406030204" pitchFamily="18" charset="0"/>
                      </a:rPr>
                      <m:t>τ</m:t>
                    </m:r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)=</m:t>
                    </m:r>
                    <m:func>
                      <m:funcPr>
                        <m:ctrlPr>
                          <a:rPr lang="en-US" sz="1200" i="1" noProof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 i="0" noProof="1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(1 − </m:t>
                        </m:r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,0)</m:t>
                        </m:r>
                      </m:e>
                    </m:func>
                  </m:oMath>
                </a14:m>
                <a:endParaRPr lang="en-US" sz="1200" noProof="1">
                  <a:latin typeface="+mn-lt"/>
                </a:endParaRPr>
              </a:p>
              <a:p>
                <a:pPr marL="228600" indent="-228600">
                  <a:spcAft>
                    <a:spcPts val="600"/>
                  </a:spcAft>
                  <a:buClrTx/>
                  <a:buFont typeface="+mj-lt"/>
                  <a:buAutoNum type="arabicPeriod"/>
                </a:pPr>
                <a:r>
                  <a:rPr lang="en-US" sz="1200" b="1" noProof="1">
                    <a:latin typeface="+mn-lt"/>
                  </a:rPr>
                  <a:t>Polynomial</a:t>
                </a:r>
                <a:r>
                  <a:rPr lang="en-US" sz="1200" noProof="1">
                    <a:latin typeface="+mn-lt"/>
                  </a:rPr>
                  <a:t>: </a:t>
                </a:r>
                <a14:m>
                  <m:oMath xmlns:m="http://schemas.openxmlformats.org/officeDocument/2006/math">
                    <m:r>
                      <a:rPr lang="en-US" sz="1200" i="1" noProof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sz="1200" i="1" noProof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;</m:t>
                        </m:r>
                        <m:d>
                          <m:dPr>
                            <m:begChr m:val="⟨"/>
                            <m:endChr m:val="⟩"/>
                            <m:ctrlPr>
                              <a:rPr lang="en-US" sz="1200" i="1" noProof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noProof="1">
                                <a:latin typeface="Cambria Math" panose="02040503050406030204" pitchFamily="18" charset="0"/>
                              </a:rPr>
                              <m:t>𝑇𝑇</m:t>
                            </m:r>
                          </m:e>
                        </m:d>
                      </m:e>
                    </m:d>
                    <m:r>
                      <a:rPr lang="en-US" sz="1200" i="1" noProof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noProof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noProof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noProof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sz="1200" i="1" noProof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  <m:sup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sz="1200" i="1" noProof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it-IT" sz="1200" b="0" i="1" noProof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1200" i="1" noProof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00" i="1" noProof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 noProof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 noProof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⟨"/>
                            <m:endChr m:val="⟩"/>
                            <m:ctrlPr>
                              <a:rPr lang="en-US" sz="1200" i="1" noProof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noProof="1">
                                <a:latin typeface="Cambria Math" panose="02040503050406030204" pitchFamily="18" charset="0"/>
                              </a:rPr>
                              <m:t>𝑇𝑇</m:t>
                            </m:r>
                          </m:e>
                        </m:d>
                      </m:den>
                    </m:f>
                    <m:r>
                      <a:rPr lang="en-US" sz="1200" i="1" noProof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1200" noProof="1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76C0FBB-F603-477B-26C9-0F38FA889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019" y="2946038"/>
                <a:ext cx="3886201" cy="1162306"/>
              </a:xfrm>
              <a:prstGeom prst="rect">
                <a:avLst/>
              </a:prstGeom>
              <a:blipFill>
                <a:blip r:embed="rId14"/>
                <a:stretch>
                  <a:fillRect l="-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Down 10">
            <a:extLst>
              <a:ext uri="{FF2B5EF4-FFF2-40B4-BE49-F238E27FC236}">
                <a16:creationId xmlns:a16="http://schemas.microsoft.com/office/drawing/2014/main" id="{E7106D51-4DC3-E47F-A08A-E9EDD968A959}"/>
              </a:ext>
            </a:extLst>
          </p:cNvPr>
          <p:cNvSpPr/>
          <p:nvPr/>
        </p:nvSpPr>
        <p:spPr>
          <a:xfrm>
            <a:off x="6479806" y="2391319"/>
            <a:ext cx="250628" cy="459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9874BF8-847D-E773-D943-EACBD4E71709}"/>
              </a:ext>
            </a:extLst>
          </p:cNvPr>
          <p:cNvSpPr/>
          <p:nvPr/>
        </p:nvSpPr>
        <p:spPr>
          <a:xfrm>
            <a:off x="2160684" y="2391319"/>
            <a:ext cx="250628" cy="4595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9C75763-BCA2-585B-46AD-EEF26B1292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2556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0038D-15FB-94D0-CACD-D9480D4A5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108FD64-B4DD-9FB0-E760-1B878D07C507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08FD64-B4DD-9FB0-E760-1B878D07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36D62E2-7270-F707-11ED-AAE4081A20C2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Implementation (2)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B168ADB-010E-4C40-44CA-6BD38B25C77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000" cap="all" noProof="1">
                <a:solidFill>
                  <a:schemeClr val="accent1"/>
                </a:solidFill>
                <a:latin typeface="Aptos" panose="020B0004020202020204" pitchFamily="34" charset="0"/>
              </a:rPr>
              <a:t>REALTIME INDICATORS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F3FC5B-9E8A-7DEA-E7FE-9FB41573C50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08213" y="819358"/>
            <a:ext cx="3487032" cy="26042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8A0F1B-A7E1-5E31-1048-5E0F10D7ECC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55588" y="740282"/>
            <a:ext cx="3685347" cy="27671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08DCE9-00F2-839E-FF64-F443C8E43602}"/>
                  </a:ext>
                </a:extLst>
              </p:cNvPr>
              <p:cNvSpPr txBox="1"/>
              <p:nvPr/>
            </p:nvSpPr>
            <p:spPr>
              <a:xfrm>
                <a:off x="5073568" y="3470467"/>
                <a:ext cx="3467367" cy="5263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sz="1400" i="1" noProof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;</m:t>
                          </m:r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  <m:t>𝑇𝑇</m:t>
                              </m:r>
                            </m:e>
                          </m:d>
                        </m:e>
                      </m:d>
                      <m:r>
                        <a:rPr lang="en-US" sz="1400" i="1" noProof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 noProof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  <m:sup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en-US" sz="1400" i="1" noProof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1400" i="1" noProof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1400" i="1" noProof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noProof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noProof="1">
                                  <a:latin typeface="Cambria Math" panose="02040503050406030204" pitchFamily="18" charset="0"/>
                                </a:rPr>
                                <m:t>𝑇𝑇</m:t>
                              </m:r>
                            </m:e>
                          </m:d>
                        </m:den>
                      </m:f>
                      <m:r>
                        <a:rPr lang="en-US" sz="1400" i="1" noProof="1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F08DCE9-00F2-839E-FF64-F443C8E43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568" y="3470467"/>
                <a:ext cx="3467367" cy="52636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265EBD-B3BB-7C42-B34D-A21C2F83239E}"/>
                  </a:ext>
                </a:extLst>
              </p:cNvPr>
              <p:cNvSpPr txBox="1"/>
              <p:nvPr/>
            </p:nvSpPr>
            <p:spPr>
              <a:xfrm>
                <a:off x="-134271" y="3579759"/>
                <a:ext cx="457200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noProof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it-IT" sz="1400" b="0" i="1" noProof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it-IT" sz="1400" b="0" i="1" noProof="1" smtClean="0"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lang="it-IT" sz="1400" b="0" i="1" noProof="1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1400" i="1" noProof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0" noProof="1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(1 − </m:t>
                          </m:r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400" i="1" noProof="1">
                              <a:latin typeface="Cambria Math" panose="02040503050406030204" pitchFamily="18" charset="0"/>
                            </a:rPr>
                            <m:t>,0)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6265EBD-B3BB-7C42-B34D-A21C2F832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4271" y="3579759"/>
                <a:ext cx="4572000" cy="307777"/>
              </a:xfrm>
              <a:prstGeom prst="rect">
                <a:avLst/>
              </a:prstGeom>
              <a:blipFill>
                <a:blip r:embed="rId12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05436E-A8BB-E67B-6613-0E780CB49250}"/>
                  </a:ext>
                </a:extLst>
              </p:cNvPr>
              <p:cNvSpPr txBox="1"/>
              <p:nvPr/>
            </p:nvSpPr>
            <p:spPr>
              <a:xfrm>
                <a:off x="5087917" y="4102656"/>
                <a:ext cx="3453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noProof="1">
                    <a:latin typeface="+mn-lt"/>
                  </a:rPr>
                  <a:t>Tune</a:t>
                </a:r>
                <a:r>
                  <a:rPr lang="en-US" sz="1200" noProof="1"/>
                  <a:t> </a:t>
                </a:r>
                <a14:m>
                  <m:oMath xmlns:m="http://schemas.openxmlformats.org/officeDocument/2006/math">
                    <m:r>
                      <a:rPr lang="en-US" sz="1200" i="1" noProof="1">
                        <a:latin typeface="Cambria Math" panose="02040503050406030204" pitchFamily="18" charset="0"/>
                      </a:rPr>
                      <m:t>〈</m:t>
                    </m:r>
                    <m:r>
                      <m:rPr>
                        <m:sty m:val="p"/>
                      </m:rPr>
                      <a:rPr lang="en-US" sz="1200" i="1" noProof="1">
                        <a:latin typeface="Cambria Math" panose="02040503050406030204" pitchFamily="18" charset="0"/>
                      </a:rPr>
                      <m:t>TT</m:t>
                    </m:r>
                    <m:r>
                      <a:rPr lang="en-US" sz="1200" i="1" noProof="1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200" noProof="1"/>
                  <a:t> </a:t>
                </a:r>
                <a:r>
                  <a:rPr lang="en-US" sz="1200" noProof="1">
                    <a:latin typeface="+mn-lt"/>
                  </a:rPr>
                  <a:t>to </a:t>
                </a:r>
                <a:r>
                  <a:rPr lang="en-US" sz="1200" b="1" noProof="1">
                    <a:latin typeface="+mn-lt"/>
                  </a:rPr>
                  <a:t>minimize</a:t>
                </a:r>
                <a:r>
                  <a:rPr lang="en-US" sz="1200" noProof="1">
                    <a:latin typeface="+mn-lt"/>
                  </a:rPr>
                  <a:t> the total </a:t>
                </a:r>
                <a:r>
                  <a:rPr lang="en-US" sz="1200" b="1" noProof="1">
                    <a:latin typeface="+mn-lt"/>
                  </a:rPr>
                  <a:t>estimation</a:t>
                </a:r>
                <a:r>
                  <a:rPr lang="en-US" sz="1200" noProof="1">
                    <a:latin typeface="+mn-lt"/>
                  </a:rPr>
                  <a:t> </a:t>
                </a:r>
                <a:r>
                  <a:rPr lang="en-US" sz="1200" b="1" noProof="1">
                    <a:latin typeface="+mn-lt"/>
                  </a:rPr>
                  <a:t>error</a:t>
                </a:r>
                <a:r>
                  <a:rPr lang="en-US" sz="1200" noProof="1">
                    <a:latin typeface="+mn-lt"/>
                  </a:rPr>
                  <a:t> of </a:t>
                </a:r>
                <a:r>
                  <a:rPr lang="en-US" sz="1200" b="1" noProof="1">
                    <a:latin typeface="+mn-lt"/>
                  </a:rPr>
                  <a:t>TFST</a:t>
                </a:r>
                <a:r>
                  <a:rPr lang="en-US" sz="1200" noProof="1">
                    <a:latin typeface="+mn-lt"/>
                  </a:rPr>
                  <a:t> relative to the observed shipment times.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05436E-A8BB-E67B-6613-0E780CB49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917" y="4102656"/>
                <a:ext cx="3453018" cy="461665"/>
              </a:xfrm>
              <a:prstGeom prst="rect">
                <a:avLst/>
              </a:prstGeom>
              <a:blipFill>
                <a:blip r:embed="rId13"/>
                <a:stretch>
                  <a:fillRect l="-177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D8B776A-9A97-FF87-DDE3-BB732128FEFA}"/>
              </a:ext>
            </a:extLst>
          </p:cNvPr>
          <p:cNvSpPr txBox="1"/>
          <p:nvPr/>
        </p:nvSpPr>
        <p:spPr>
          <a:xfrm>
            <a:off x="603065" y="4102656"/>
            <a:ext cx="3453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dirty="0">
                <a:latin typeface="+mn-lt"/>
              </a:rPr>
              <a:t>Prioritize</a:t>
            </a:r>
            <a:r>
              <a:rPr lang="en-US" sz="1200" dirty="0">
                <a:latin typeface="+mn-lt"/>
              </a:rPr>
              <a:t> </a:t>
            </a:r>
            <a:r>
              <a:rPr lang="en-US" sz="1200" b="1" dirty="0">
                <a:latin typeface="+mn-lt"/>
              </a:rPr>
              <a:t>PT</a:t>
            </a:r>
            <a:r>
              <a:rPr lang="en-US" sz="1200" dirty="0">
                <a:latin typeface="+mn-lt"/>
              </a:rPr>
              <a:t> over </a:t>
            </a:r>
            <a:r>
              <a:rPr lang="en-US" sz="1200" b="1" dirty="0">
                <a:latin typeface="+mn-lt"/>
              </a:rPr>
              <a:t>TT</a:t>
            </a:r>
            <a:r>
              <a:rPr lang="en-US" sz="1200" dirty="0">
                <a:latin typeface="+mn-lt"/>
              </a:rPr>
              <a:t> as shipment </a:t>
            </a:r>
            <a:r>
              <a:rPr lang="en-US" sz="1200" b="1" dirty="0">
                <a:latin typeface="+mn-lt"/>
              </a:rPr>
              <a:t>time</a:t>
            </a:r>
            <a:r>
              <a:rPr lang="en-US" sz="1200" dirty="0">
                <a:latin typeface="+mn-lt"/>
              </a:rPr>
              <a:t> </a:t>
            </a:r>
            <a:r>
              <a:rPr lang="en-US" sz="1200" b="1" dirty="0">
                <a:latin typeface="+mn-lt"/>
              </a:rPr>
              <a:t>progresses</a:t>
            </a:r>
            <a:r>
              <a:rPr lang="en-US" sz="1200" dirty="0">
                <a:latin typeface="+mn-lt"/>
              </a:rPr>
              <a:t>.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2" name="Picture 1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ECB637F-153F-9CD2-0DAF-ACF76C449FA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8883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D878E-617F-E340-7F6D-1326BE5CB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EA67B87-7F92-DB6F-12F2-65CFBE7AA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B9BE9D-5053-FCC9-DE56-8E2B75DED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77D4BB-4AD5-D57E-4B2C-FDDA3C0CD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2E52D5-690D-8A0C-0BD1-EEB1164C2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B9A8F4-43EB-5B1B-9539-49E8E1C17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93FEB8-9CF1-6DE6-C4CE-329DAEEF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664" y="614238"/>
            <a:ext cx="3984667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 err="1">
                <a:solidFill>
                  <a:srgbClr val="FFFFFF"/>
                </a:solidFill>
              </a:rPr>
              <a:t>Protoype</a:t>
            </a:r>
            <a:r>
              <a:rPr lang="en-US" sz="3600" dirty="0">
                <a:solidFill>
                  <a:srgbClr val="FFFFFF"/>
                </a:solidFill>
              </a:rPr>
              <a:t> &amp; Experimental Evaluation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5B7B18-03F8-AC29-9538-2F2E1B403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0ED136-86B0-D126-8F48-26E517BF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21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0A5E-44A5-FA4C-743B-8C889D930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180BE26-91E4-FB4A-C304-CF8C74A3C72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7772400" imgH="10058400" progId="TCLayout.ActiveDocument.1">
                  <p:embed/>
                </p:oleObj>
              </mc:Choice>
              <mc:Fallback>
                <p:oleObj name="think-cell Slide" r:id="rId11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80BE26-91E4-FB4A-C304-CF8C74A3C7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4D8A881-CCB8-8107-FA67-496278B3773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Prototype Architecture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67DA829-9461-4352-F73F-E4A2A18B170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18EF981-F4A0-434F-A30A-297F83D6F7D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1" r="21"/>
          <a:stretch/>
        </p:blipFill>
        <p:spPr>
          <a:xfrm>
            <a:off x="3712100" y="78029"/>
            <a:ext cx="5244891" cy="4391062"/>
          </a:xfrm>
          <a:prstGeom prst="rect">
            <a:avLst/>
          </a:prstGeom>
        </p:spPr>
      </p:pic>
      <p:sp>
        <p:nvSpPr>
          <p:cNvPr id="21" name="Google Shape;10527;p9415">
            <a:extLst>
              <a:ext uri="{FF2B5EF4-FFF2-40B4-BE49-F238E27FC236}">
                <a16:creationId xmlns:a16="http://schemas.microsoft.com/office/drawing/2014/main" id="{CCD174DB-393D-0CAB-D2D9-5FA39F17DDE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900" y="900063"/>
            <a:ext cx="3133032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Implementation &amp; Deployment</a:t>
            </a:r>
          </a:p>
        </p:txBody>
      </p:sp>
      <p:sp>
        <p:nvSpPr>
          <p:cNvPr id="23" name="Google Shape;703;p114">
            <a:extLst>
              <a:ext uri="{FF2B5EF4-FFF2-40B4-BE49-F238E27FC236}">
                <a16:creationId xmlns:a16="http://schemas.microsoft.com/office/drawing/2014/main" id="{A3A15FBD-3B5F-85FA-B84E-8076BB59BA1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42899" y="1200344"/>
            <a:ext cx="3133032" cy="163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80" rIns="68580" bIns="3429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dirty="0"/>
              <a:t>Developed in </a:t>
            </a:r>
            <a:r>
              <a:rPr lang="en-US" sz="1200" b="1" dirty="0"/>
              <a:t>Python</a:t>
            </a:r>
            <a:r>
              <a:rPr lang="en-US" sz="1200" dirty="0"/>
              <a:t> with deployment on </a:t>
            </a:r>
            <a:r>
              <a:rPr lang="en-US" sz="1200" b="1" dirty="0"/>
              <a:t>AWS:</a:t>
            </a:r>
            <a:endParaRPr lang="en-US" sz="1200" noProof="1"/>
          </a:p>
          <a:p>
            <a:pPr marL="171450" indent="-171450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Lambda</a:t>
            </a:r>
            <a:r>
              <a:rPr lang="en-US" sz="1200" dirty="0"/>
              <a:t> </a:t>
            </a:r>
            <a:r>
              <a:rPr lang="en-US" sz="1200" b="1" dirty="0"/>
              <a:t>Functions</a:t>
            </a:r>
            <a:r>
              <a:rPr lang="en-US" sz="1200" dirty="0"/>
              <a:t> &amp; </a:t>
            </a:r>
            <a:r>
              <a:rPr lang="en-US" sz="1200" b="1" dirty="0"/>
              <a:t>Layers</a:t>
            </a:r>
            <a:r>
              <a:rPr lang="en-US" sz="1200" dirty="0"/>
              <a:t>.</a:t>
            </a:r>
            <a:endParaRPr lang="en-US" sz="1200" noProof="1"/>
          </a:p>
          <a:p>
            <a:pPr marL="171450" indent="-171450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RDS</a:t>
            </a:r>
            <a:r>
              <a:rPr lang="en-US" sz="1200" dirty="0"/>
              <a:t> (Relational Database Service).</a:t>
            </a:r>
            <a:endParaRPr lang="en-US" sz="1200" noProof="1"/>
          </a:p>
          <a:p>
            <a:pPr marL="171450" indent="-171450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200" b="1" noProof="1"/>
              <a:t>S3</a:t>
            </a:r>
            <a:r>
              <a:rPr lang="en-US" sz="1200" noProof="1"/>
              <a:t> (Object Storage).</a:t>
            </a:r>
          </a:p>
          <a:p>
            <a:pPr marL="171450" indent="-171450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API</a:t>
            </a:r>
            <a:r>
              <a:rPr lang="en-US" sz="1200" dirty="0"/>
              <a:t> </a:t>
            </a:r>
            <a:r>
              <a:rPr lang="en-US" sz="1200" b="1" dirty="0"/>
              <a:t>Gateway</a:t>
            </a:r>
            <a:r>
              <a:rPr lang="en-US" sz="1200" dirty="0"/>
              <a:t>.</a:t>
            </a:r>
            <a:endParaRPr lang="en-US" sz="1200" noProof="1"/>
          </a:p>
          <a:p>
            <a:pPr marL="171450" indent="-171450">
              <a:lnSpc>
                <a:spcPct val="110000"/>
              </a:lnSpc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SQS</a:t>
            </a:r>
            <a:r>
              <a:rPr lang="en-US" sz="1200" dirty="0"/>
              <a:t> (Simple Queue Service).</a:t>
            </a:r>
            <a:endParaRPr lang="en-US" sz="1200" noProof="1"/>
          </a:p>
        </p:txBody>
      </p:sp>
      <p:sp>
        <p:nvSpPr>
          <p:cNvPr id="24" name="Google Shape;10527;p9415">
            <a:extLst>
              <a:ext uri="{FF2B5EF4-FFF2-40B4-BE49-F238E27FC236}">
                <a16:creationId xmlns:a16="http://schemas.microsoft.com/office/drawing/2014/main" id="{0197F563-814B-4287-F2C2-79F80B996FC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42899" y="3033242"/>
            <a:ext cx="3133033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Modularity &amp; Configurability</a:t>
            </a:r>
          </a:p>
        </p:txBody>
      </p:sp>
      <p:sp>
        <p:nvSpPr>
          <p:cNvPr id="25" name="Google Shape;703;p114">
            <a:extLst>
              <a:ext uri="{FF2B5EF4-FFF2-40B4-BE49-F238E27FC236}">
                <a16:creationId xmlns:a16="http://schemas.microsoft.com/office/drawing/2014/main" id="{A5712105-A1DE-0103-DDAE-C543D1034B0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42899" y="3333523"/>
            <a:ext cx="3133032" cy="1359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80" rIns="68580" bIns="3429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b="1" dirty="0"/>
              <a:t>Dynamic hyperparameter tuning</a:t>
            </a:r>
            <a:r>
              <a:rPr lang="en-US" sz="1200" dirty="0"/>
              <a:t> via centralized configuration table.</a:t>
            </a:r>
          </a:p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b="1" dirty="0"/>
              <a:t>Modular</a:t>
            </a:r>
            <a:r>
              <a:rPr lang="en-US" sz="1200" dirty="0"/>
              <a:t> </a:t>
            </a:r>
            <a:r>
              <a:rPr lang="en-US" sz="1200" b="1" dirty="0"/>
              <a:t>design</a:t>
            </a:r>
            <a:r>
              <a:rPr lang="en-US" sz="1200" dirty="0"/>
              <a:t> enabling independent evolution of individual components.</a:t>
            </a:r>
            <a:endParaRPr lang="en-US" sz="1200" noProof="1"/>
          </a:p>
          <a:p>
            <a:pPr>
              <a:lnSpc>
                <a:spcPct val="110000"/>
              </a:lnSpc>
              <a:spcAft>
                <a:spcPts val="150"/>
              </a:spcAft>
            </a:pPr>
            <a:endParaRPr lang="en-US" sz="1200" noProof="1"/>
          </a:p>
          <a:p>
            <a:pPr>
              <a:lnSpc>
                <a:spcPct val="110000"/>
              </a:lnSpc>
              <a:spcAft>
                <a:spcPts val="150"/>
              </a:spcAft>
            </a:pPr>
            <a:endParaRPr lang="en-US" sz="1200" noProof="1"/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474132DA-D4F4-612F-5544-11B770949CD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1570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2C011-F955-9E3D-4B46-F276E9EA7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4EDA644-686F-5DAB-6017-65A53A803D8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7772400" imgH="10058400" progId="TCLayout.ActiveDocument.1">
                  <p:embed/>
                </p:oleObj>
              </mc:Choice>
              <mc:Fallback>
                <p:oleObj name="think-cell Slide" r:id="rId12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4EDA644-686F-5DAB-6017-65A53A803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9BF845C-C243-4DCC-D347-A255C261695C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2900" y="411480"/>
            <a:ext cx="8455914" cy="370332"/>
          </a:xfrm>
        </p:spPr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Evaluation Methodology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014AD56C-0C18-156A-1844-4B153817336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sp>
        <p:nvSpPr>
          <p:cNvPr id="11" name="Google Shape;703;p114">
            <a:extLst>
              <a:ext uri="{FF2B5EF4-FFF2-40B4-BE49-F238E27FC236}">
                <a16:creationId xmlns:a16="http://schemas.microsoft.com/office/drawing/2014/main" id="{48C01E88-88E6-C44B-5E25-BE9D5A9F96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8" y="1282498"/>
            <a:ext cx="3886201" cy="217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916">
              <a:spcAft>
                <a:spcPts val="500"/>
              </a:spcAft>
            </a:pPr>
            <a:r>
              <a:rPr lang="en-US" sz="1200" dirty="0"/>
              <a:t>Distributions fitted using </a:t>
            </a:r>
            <a:r>
              <a:rPr lang="en-US" sz="1200" b="1" dirty="0"/>
              <a:t>hourly-resolution</a:t>
            </a:r>
            <a:r>
              <a:rPr lang="en-US" sz="1200" dirty="0"/>
              <a:t> data.</a:t>
            </a:r>
          </a:p>
          <a:p>
            <a:pPr marL="86916">
              <a:spcAft>
                <a:spcPts val="500"/>
              </a:spcAft>
            </a:pPr>
            <a:endParaRPr lang="en-US" sz="1200" dirty="0"/>
          </a:p>
          <a:p>
            <a:pPr marL="86916">
              <a:spcAft>
                <a:spcPts val="500"/>
              </a:spcAft>
            </a:pPr>
            <a:r>
              <a:rPr lang="en-US" sz="1200" dirty="0"/>
              <a:t>System </a:t>
            </a:r>
            <a:r>
              <a:rPr lang="en-US" sz="1200" b="1" dirty="0"/>
              <a:t>evaluated</a:t>
            </a:r>
            <a:r>
              <a:rPr lang="en-US" sz="1200" dirty="0"/>
              <a:t> at </a:t>
            </a:r>
            <a:r>
              <a:rPr lang="en-US" sz="1200" b="1" dirty="0"/>
              <a:t>daily</a:t>
            </a:r>
            <a:r>
              <a:rPr lang="en-US" sz="1200" dirty="0"/>
              <a:t> </a:t>
            </a:r>
            <a:r>
              <a:rPr lang="en-US" sz="1200" b="1" dirty="0"/>
              <a:t>scale</a:t>
            </a:r>
            <a:r>
              <a:rPr lang="en-US" sz="1200" dirty="0"/>
              <a:t> using two approaches:</a:t>
            </a:r>
            <a:endParaRPr lang="en-US" sz="1200" b="1" noProof="1"/>
          </a:p>
          <a:p>
            <a:pPr marL="258366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Hourly-based:</a:t>
            </a:r>
            <a:r>
              <a:rPr lang="en-US" sz="1200" dirty="0"/>
              <a:t> metrics computed from hourly predictions, then reported by day.</a:t>
            </a:r>
          </a:p>
          <a:p>
            <a:pPr marL="258366" indent="-1714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Daily-based:</a:t>
            </a:r>
            <a:r>
              <a:rPr lang="en-US" sz="1200" dirty="0"/>
              <a:t> predictions discretized into business days, with metrics directly evaluated at this scale.</a:t>
            </a:r>
            <a:endParaRPr lang="en-US" sz="1200" noProof="1"/>
          </a:p>
        </p:txBody>
      </p:sp>
      <p:sp>
        <p:nvSpPr>
          <p:cNvPr id="4" name="Google Shape;703;p114">
            <a:extLst>
              <a:ext uri="{FF2B5EF4-FFF2-40B4-BE49-F238E27FC236}">
                <a16:creationId xmlns:a16="http://schemas.microsoft.com/office/drawing/2014/main" id="{241C91F2-5FA7-7B0B-BE24-18EB2657DEF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72440" y="1282498"/>
            <a:ext cx="3886201" cy="217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80" tIns="68580" rIns="68580" bIns="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5516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noProof="1"/>
              <a:t>Quantitative evaluation on:</a:t>
            </a:r>
          </a:p>
          <a:p>
            <a:pPr marL="601266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noProof="1"/>
              <a:t>Sharpness</a:t>
            </a:r>
            <a:r>
              <a:rPr lang="en-US" sz="1200" noProof="1"/>
              <a:t>: width of predicted intervals.</a:t>
            </a:r>
          </a:p>
          <a:p>
            <a:pPr marL="601266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noProof="1"/>
              <a:t>Coverage: </a:t>
            </a:r>
            <a:r>
              <a:rPr lang="en-US" sz="1200" noProof="1"/>
              <a:t>proportion of observations within the predicted interval.</a:t>
            </a:r>
          </a:p>
          <a:p>
            <a:pPr marL="601266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1" noProof="1"/>
              <a:t>Interval Score: </a:t>
            </a:r>
            <a:r>
              <a:rPr lang="en-US" sz="1200" noProof="1"/>
              <a:t>single measure accounting for both sharpness and coverage.</a:t>
            </a:r>
          </a:p>
          <a:p>
            <a:pPr marL="315516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noProof="1"/>
              <a:t>Sensitivity Analysis</a:t>
            </a:r>
            <a:r>
              <a:rPr lang="en-US" sz="1200" noProof="1"/>
              <a:t>: </a:t>
            </a:r>
            <a:r>
              <a:rPr lang="en-US" sz="1200" dirty="0"/>
              <a:t>assessing model coverage across varying confidence levels.</a:t>
            </a:r>
          </a:p>
          <a:p>
            <a:pPr marL="315516" indent="-228600">
              <a:spcAft>
                <a:spcPts val="600"/>
              </a:spcAft>
              <a:buFont typeface="+mj-lt"/>
              <a:buAutoNum type="arabicPeriod"/>
            </a:pPr>
            <a:r>
              <a:rPr lang="en-US" sz="1200" b="1" noProof="1"/>
              <a:t>Visualization</a:t>
            </a:r>
            <a:r>
              <a:rPr lang="en-US" sz="1200" noProof="1"/>
              <a:t> of the evolution of </a:t>
            </a:r>
            <a:r>
              <a:rPr lang="en-US" sz="1200" b="1" noProof="1"/>
              <a:t>shipment</a:t>
            </a:r>
            <a:r>
              <a:rPr lang="en-US" sz="1200" noProof="1"/>
              <a:t> </a:t>
            </a:r>
            <a:r>
              <a:rPr lang="en-US" sz="1200" b="1" noProof="1"/>
              <a:t>estimates</a:t>
            </a:r>
            <a:r>
              <a:rPr lang="en-US" sz="1200" noProof="1"/>
              <a:t>.</a:t>
            </a:r>
          </a:p>
        </p:txBody>
      </p:sp>
      <p:sp>
        <p:nvSpPr>
          <p:cNvPr id="5" name="Google Shape;10527;p9415">
            <a:extLst>
              <a:ext uri="{FF2B5EF4-FFF2-40B4-BE49-F238E27FC236}">
                <a16:creationId xmlns:a16="http://schemas.microsoft.com/office/drawing/2014/main" id="{D3AE31F4-1E99-6203-E810-A5E31A8598C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42898" y="901887"/>
            <a:ext cx="388620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Time Resolution</a:t>
            </a:r>
          </a:p>
        </p:txBody>
      </p:sp>
      <p:sp>
        <p:nvSpPr>
          <p:cNvPr id="7" name="Google Shape;10527;p9415">
            <a:extLst>
              <a:ext uri="{FF2B5EF4-FFF2-40B4-BE49-F238E27FC236}">
                <a16:creationId xmlns:a16="http://schemas.microsoft.com/office/drawing/2014/main" id="{A8B026BE-8CBF-C95E-0707-C62EE16C9F0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4672440" y="901887"/>
            <a:ext cx="3886201" cy="2880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Evaluation steps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18DCE05-AD8A-D680-65DF-F7B2666592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316309" y="3575107"/>
            <a:ext cx="8509000" cy="821656"/>
          </a:xfrm>
          <a:prstGeom prst="rect">
            <a:avLst/>
          </a:prstGeom>
          <a:solidFill>
            <a:schemeClr val="bg2"/>
          </a:solidFill>
        </p:spPr>
        <p:txBody>
          <a:bodyPr vert="horz" lIns="68580" tIns="68580" rIns="68580" bIns="68580" rtlCol="0" anchor="ctr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500"/>
              </a:spcBef>
              <a:buClrTx/>
            </a:pPr>
            <a:r>
              <a:rPr lang="en-US" sz="1400" b="1" dirty="0">
                <a:solidFill>
                  <a:srgbClr val="125E4B"/>
                </a:solidFill>
              </a:rPr>
              <a:t>Evaluation</a:t>
            </a:r>
            <a:r>
              <a:rPr lang="en-US" sz="1400" dirty="0">
                <a:solidFill>
                  <a:srgbClr val="125E4B"/>
                </a:solidFill>
              </a:rPr>
              <a:t> focused on the system’s ability to accurately predict </a:t>
            </a:r>
            <a:r>
              <a:rPr lang="en-US" sz="1400" b="1" dirty="0">
                <a:solidFill>
                  <a:srgbClr val="125E4B"/>
                </a:solidFill>
              </a:rPr>
              <a:t>delivery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time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windows</a:t>
            </a:r>
            <a:r>
              <a:rPr lang="en-US" sz="1400" dirty="0">
                <a:solidFill>
                  <a:srgbClr val="125E4B"/>
                </a:solidFill>
              </a:rPr>
              <a:t> for orders, leveraging </a:t>
            </a:r>
            <a:r>
              <a:rPr lang="en-US" sz="1400" b="1" dirty="0">
                <a:solidFill>
                  <a:srgbClr val="125E4B"/>
                </a:solidFill>
              </a:rPr>
              <a:t>event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data</a:t>
            </a:r>
            <a:r>
              <a:rPr lang="en-US" sz="1400" dirty="0">
                <a:solidFill>
                  <a:srgbClr val="125E4B"/>
                </a:solidFill>
              </a:rPr>
              <a:t> reported by </a:t>
            </a:r>
            <a:r>
              <a:rPr lang="en-US" sz="1400" b="1" dirty="0">
                <a:solidFill>
                  <a:srgbClr val="125E4B"/>
                </a:solidFill>
              </a:rPr>
              <a:t>carriers</a:t>
            </a:r>
            <a:r>
              <a:rPr lang="en-US" sz="1400" dirty="0">
                <a:solidFill>
                  <a:srgbClr val="125E4B"/>
                </a:solidFill>
              </a:rPr>
              <a:t> throughout the shipment process.</a:t>
            </a:r>
          </a:p>
        </p:txBody>
      </p:sp>
      <p:pic>
        <p:nvPicPr>
          <p:cNvPr id="9" name="Picture 8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2674C52-A95C-15A2-4EC3-59873394C5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9048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F06C-DCEA-19CE-2CF3-D5856DE3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FC25BFD-896D-4814-FF51-CE1C14157E8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25BFD-896D-4814-FF51-CE1C14157E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5D7BE7D-5D25-B054-522C-25670EAD9AB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Quantitative Evaluation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36E60F9-6B75-01D2-2063-864A52EC68D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D74106-42DD-8B7D-A03D-BE4902E71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908628"/>
              </p:ext>
            </p:extLst>
          </p:nvPr>
        </p:nvGraphicFramePr>
        <p:xfrm>
          <a:off x="342897" y="897032"/>
          <a:ext cx="8455822" cy="1483360"/>
        </p:xfrm>
        <a:graphic>
          <a:graphicData uri="http://schemas.openxmlformats.org/drawingml/2006/table">
            <a:tbl>
              <a:tblPr firstRow="1" bandRow="1">
                <a:tableStyleId>{63B48042-AE31-4177-9097-B33D8566F184}</a:tableStyleId>
              </a:tblPr>
              <a:tblGrid>
                <a:gridCol w="2113954">
                  <a:extLst>
                    <a:ext uri="{9D8B030D-6E8A-4147-A177-3AD203B41FA5}">
                      <a16:colId xmlns:a16="http://schemas.microsoft.com/office/drawing/2014/main" val="770372340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167631828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1353527839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3291393602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1880537368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615862075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275655629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Operational Stage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Sharpness (days)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Coverage (%)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Interval Score (days)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73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Hourly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Daily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Hourly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Daily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Hourly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Daily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288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Dispatch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2.15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2.20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0.28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0.56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4.22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4.26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2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Shipment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1.03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1.18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0.52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0.84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1.45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1.63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523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2F7656-F462-5B68-A82B-02C0D0E9D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51423"/>
              </p:ext>
            </p:extLst>
          </p:nvPr>
        </p:nvGraphicFramePr>
        <p:xfrm>
          <a:off x="342897" y="2844480"/>
          <a:ext cx="8455822" cy="1483360"/>
        </p:xfrm>
        <a:graphic>
          <a:graphicData uri="http://schemas.openxmlformats.org/drawingml/2006/table">
            <a:tbl>
              <a:tblPr firstRow="1" bandRow="1">
                <a:tableStyleId>{63B48042-AE31-4177-9097-B33D8566F184}</a:tableStyleId>
              </a:tblPr>
              <a:tblGrid>
                <a:gridCol w="2113954">
                  <a:extLst>
                    <a:ext uri="{9D8B030D-6E8A-4147-A177-3AD203B41FA5}">
                      <a16:colId xmlns:a16="http://schemas.microsoft.com/office/drawing/2014/main" val="770372340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167631828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1353527839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3291393602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1880537368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615862075"/>
                    </a:ext>
                  </a:extLst>
                </a:gridCol>
                <a:gridCol w="1056978">
                  <a:extLst>
                    <a:ext uri="{9D8B030D-6E8A-4147-A177-3AD203B41FA5}">
                      <a16:colId xmlns:a16="http://schemas.microsoft.com/office/drawing/2014/main" val="275655629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Operational Stage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Sharpness (days)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Coverage (%)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Interval Score (days)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733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Hourly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Daily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Hourly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Daily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Hourly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latin typeface="+mn-lt"/>
                        </a:rPr>
                        <a:t>Daily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288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Dispatch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2.87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3.00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7.81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7.44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520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Shipment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1.30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1.55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0.63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0.86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1.99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latin typeface="+mn-lt"/>
                        </a:rPr>
                        <a:t>2.20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152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9694C4E-5D68-BC16-F60F-2033F2CDCBFC}"/>
              </a:ext>
            </a:extLst>
          </p:cNvPr>
          <p:cNvSpPr txBox="1"/>
          <p:nvPr/>
        </p:nvSpPr>
        <p:spPr>
          <a:xfrm>
            <a:off x="342897" y="2387882"/>
            <a:ext cx="8455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n-lt"/>
              </a:rPr>
              <a:t>Training Set </a:t>
            </a:r>
            <a:r>
              <a:rPr lang="en-US" dirty="0">
                <a:latin typeface="+mn-lt"/>
              </a:rPr>
              <a:t>– 90% Confidence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1DC066-9E16-A589-C36A-9C4C2129659D}"/>
              </a:ext>
            </a:extLst>
          </p:cNvPr>
          <p:cNvSpPr txBox="1"/>
          <p:nvPr/>
        </p:nvSpPr>
        <p:spPr>
          <a:xfrm>
            <a:off x="342897" y="4327840"/>
            <a:ext cx="8455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Test Set </a:t>
            </a:r>
            <a:r>
              <a:rPr lang="en-US" dirty="0">
                <a:latin typeface="+mn-lt"/>
                <a:cs typeface="Arial" panose="020B0604020202020204" pitchFamily="34" charset="0"/>
              </a:rPr>
              <a:t>– 90% Confidence </a:t>
            </a:r>
          </a:p>
        </p:txBody>
      </p:sp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BE5A256-5DBA-092E-2201-3CE6A648B8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09673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7D01-FC34-4741-9E60-C2DD6A6E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3FB26E9-0393-602B-29BC-44A9B0293CD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7772400" imgH="10058400" progId="TCLayout.ActiveDocument.1">
                  <p:embed/>
                </p:oleObj>
              </mc:Choice>
              <mc:Fallback>
                <p:oleObj name="think-cell Slide" r:id="rId9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3FB26E9-0393-602B-29BC-44A9B0293C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371AF76-B264-C5CE-DF8D-B481729689D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Sensitivity Analysis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7C7BADD-02DC-19C8-B047-345345EC9E64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sp>
        <p:nvSpPr>
          <p:cNvPr id="21" name="Google Shape;10527;p9415">
            <a:extLst>
              <a:ext uri="{FF2B5EF4-FFF2-40B4-BE49-F238E27FC236}">
                <a16:creationId xmlns:a16="http://schemas.microsoft.com/office/drawing/2014/main" id="{B5721CD3-DA53-055C-22D4-D879319B7B3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7" y="1135544"/>
            <a:ext cx="3290477" cy="27215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 lnSpcReduction="10000"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sz="1400" noProof="1">
                <a:solidFill>
                  <a:schemeClr val="bg1"/>
                </a:solidFill>
                <a:latin typeface="+mj-lt"/>
              </a:rPr>
              <a:t>Evaluation</a:t>
            </a:r>
          </a:p>
        </p:txBody>
      </p:sp>
      <p:sp>
        <p:nvSpPr>
          <p:cNvPr id="23" name="Google Shape;703;p114">
            <a:extLst>
              <a:ext uri="{FF2B5EF4-FFF2-40B4-BE49-F238E27FC236}">
                <a16:creationId xmlns:a16="http://schemas.microsoft.com/office/drawing/2014/main" id="{3FD96F95-76E7-B504-763D-989865E818A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42897" y="1817872"/>
            <a:ext cx="3290477" cy="163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80" rIns="68580" bIns="34290" anchor="t" anchorCtr="0">
            <a:no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b="1" dirty="0"/>
              <a:t>Coverage</a:t>
            </a:r>
            <a:r>
              <a:rPr lang="en-US" sz="1200" dirty="0"/>
              <a:t> assessed on the test set across multiple nominal confidence levels.</a:t>
            </a:r>
          </a:p>
          <a:p>
            <a:pPr>
              <a:lnSpc>
                <a:spcPct val="110000"/>
              </a:lnSpc>
              <a:spcAft>
                <a:spcPts val="150"/>
              </a:spcAft>
            </a:pPr>
            <a:endParaRPr lang="en-US" sz="1200" noProof="1"/>
          </a:p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b="1" dirty="0"/>
              <a:t>Hour-resolution</a:t>
            </a:r>
            <a:r>
              <a:rPr lang="en-US" sz="1200" dirty="0"/>
              <a:t> estimates show </a:t>
            </a:r>
            <a:r>
              <a:rPr lang="en-US" sz="1200" b="1" dirty="0"/>
              <a:t>under-reliability</a:t>
            </a:r>
            <a:r>
              <a:rPr lang="en-US" sz="1200" noProof="1"/>
              <a:t>.</a:t>
            </a:r>
          </a:p>
          <a:p>
            <a:pPr>
              <a:lnSpc>
                <a:spcPct val="110000"/>
              </a:lnSpc>
              <a:spcAft>
                <a:spcPts val="150"/>
              </a:spcAft>
            </a:pPr>
            <a:endParaRPr lang="en-US" sz="1200" noProof="1"/>
          </a:p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US" sz="1200" b="1" dirty="0"/>
              <a:t>Day-resolution</a:t>
            </a:r>
            <a:r>
              <a:rPr lang="en-US" sz="1200" dirty="0"/>
              <a:t> estimates show </a:t>
            </a:r>
            <a:r>
              <a:rPr lang="en-US" sz="1200" b="1" dirty="0"/>
              <a:t>over-reliability</a:t>
            </a:r>
            <a:r>
              <a:rPr lang="en-US" sz="1200" dirty="0"/>
              <a:t> up to a nominal confidence of 0.85</a:t>
            </a:r>
            <a:endParaRPr lang="en-US" sz="1200" noProof="1"/>
          </a:p>
        </p:txBody>
      </p:sp>
      <p:pic>
        <p:nvPicPr>
          <p:cNvPr id="6" name="Picture 5" descr="A graph showing the difference between coverage and confidence&#10;&#10;AI-generated content may be incorrect.">
            <a:extLst>
              <a:ext uri="{FF2B5EF4-FFF2-40B4-BE49-F238E27FC236}">
                <a16:creationId xmlns:a16="http://schemas.microsoft.com/office/drawing/2014/main" id="{569BF9CA-F849-AD2D-763A-D28D64E99A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9661" y="865192"/>
            <a:ext cx="4979058" cy="3535852"/>
          </a:xfrm>
          <a:prstGeom prst="rect">
            <a:avLst/>
          </a:prstGeom>
        </p:spPr>
      </p:pic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AAB0287-B095-A150-3D2A-CB951A2684E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4341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C295F-3EFC-91B5-9CD1-BF4E92431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66EF799-9988-A2D0-7622-9BB50B89FEA3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6EF799-9988-A2D0-7622-9BB50B89FE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F500775-1D8F-CDD6-B466-B4B3A331BED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Evolution of Shipment Estimates (1)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4FBD1BE-CB57-526F-8F67-F3AFA8932840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D50AC-73EB-D568-5F93-5DECB781B29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44090" y="1049989"/>
            <a:ext cx="8455820" cy="3606516"/>
          </a:xfrm>
          <a:prstGeom prst="rect">
            <a:avLst/>
          </a:prstGeom>
        </p:spPr>
      </p:pic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F7C2771-E68C-D1FE-5A8D-79D2DCF730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47890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2C0A-ECE6-2A0B-D1E3-43F7DBCA6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689BF8-A5E5-4BBD-8CA8-C25CF5EDB91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689BF8-A5E5-4BBD-8CA8-C25CF5EDB9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B81E6E2-CF94-4449-C960-1F9E976FE5F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Evolution of Shipment Estimates (2)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D707445-7EF8-83E6-9AAF-97F53E3D212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D84D1-3AA3-30A1-EC95-1EFDDDDB47E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44091" y="1049989"/>
            <a:ext cx="8455817" cy="3606516"/>
          </a:xfrm>
          <a:prstGeom prst="rect">
            <a:avLst/>
          </a:prstGeom>
        </p:spPr>
      </p:pic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5AB9CE6-8063-333F-CBEF-2C1FD261F5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211810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F7143-606B-34A8-3D16-6C5E3F31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162635F-FFCE-73D3-2B74-995E4CFE527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62635F-FFCE-73D3-2B74-995E4CFE52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5CC3917-E6B1-7AEC-46BC-9218FE00B24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Evolution of Shipment Estimates (3)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4AFD825-0906-A571-B75D-22702577DC1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4004EB-A736-6841-971E-E8B204702A9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51220" y="1049989"/>
            <a:ext cx="8441558" cy="3606516"/>
          </a:xfrm>
          <a:prstGeom prst="rect">
            <a:avLst/>
          </a:prstGeom>
        </p:spPr>
      </p:pic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8A4F0B6-8592-55A3-2B05-34FA1D3425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9040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9A378-AE84-5974-B946-54EE1593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5BF12B5-ACBD-440A-5C4C-BF9B3E4059D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BF12B5-ACBD-440A-5C4C-BF9B3E4059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CF25C0F-F726-F253-6D0F-CB17BFAF9AA5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Evolution of Shipment Estimates (4)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90894408-F18A-DADC-4396-FEDBC4A5C34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64FC5-BA6E-EB5B-BF30-A2D122DB6DE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1220" y="1049989"/>
            <a:ext cx="8441558" cy="3606515"/>
          </a:xfrm>
          <a:prstGeom prst="rect">
            <a:avLst/>
          </a:prstGeom>
        </p:spPr>
      </p:pic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BB7D8A0-6A26-6D8E-5555-FA354A0364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2512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7EED-37ED-2585-953B-741352181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D6D881-88FD-F377-B0A8-7140E213552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6D881-88FD-F377-B0A8-7140E21355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BE45F8C-B7D5-F2FF-6752-23F6A8D511B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Evolution of Shipment Estimates (5)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659667-CD39-B4E0-C8D7-4FE47C902EB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Prototype &amp; Experimental evaluation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B9AD5982-BB24-055F-9ED4-AB2A8B5B42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090" y="1046943"/>
            <a:ext cx="8455820" cy="3612609"/>
          </a:xfrm>
          <a:prstGeom prst="rect">
            <a:avLst/>
          </a:prstGeom>
        </p:spPr>
      </p:pic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DAAE39A-8A72-F909-D550-36CA305EA2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53558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40B8E-4F3B-6EC4-684F-DE25CFE5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C7B71F-C95B-CE88-8BA6-EF91CC574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8CE2D-5085-47DB-B640-03F56DB9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20"/>
            <a:ext cx="9144000" cy="5143499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DB5613-ADF6-71F0-B999-EE66DD3B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290"/>
            <a:ext cx="8812530" cy="5130513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027F13-8D74-1643-FF4C-F18A7454E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968"/>
            <a:ext cx="2706134" cy="514414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3A1B3A8-FACA-78F5-97BD-063CC01C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4544796" y="584453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972D06-0C49-2507-C9D8-2EDC40BE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2664" y="614238"/>
            <a:ext cx="3984667" cy="24513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600" dirty="0">
                <a:solidFill>
                  <a:srgbClr val="FFFFFF"/>
                </a:solidFill>
              </a:rPr>
              <a:t>Conclusion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4EF8E9-0473-F282-8D8F-2EA29FDE1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3360028"/>
            <a:ext cx="9134528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61A744-E111-BEEC-FF93-06994C30B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225314" y="1224495"/>
            <a:ext cx="5143179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36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1061E-0A36-AF68-D649-7EF2E7A3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9209419-1C1C-F25B-B14B-B3CE84BDCA4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192" y="1191"/>
          <a:ext cx="920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7772400" imgH="10058400" progId="TCLayout.ActiveDocument.1">
                  <p:embed/>
                </p:oleObj>
              </mc:Choice>
              <mc:Fallback>
                <p:oleObj name="think-cell Slide" r:id="rId11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9209419-1C1C-F25B-B14B-B3CE84BDCA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92" y="1191"/>
                        <a:ext cx="920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DB16428-270F-F2F0-81D5-1B7CEA169FC2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42900" y="411480"/>
            <a:ext cx="8455914" cy="370332"/>
          </a:xfrm>
        </p:spPr>
        <p:txBody>
          <a:bodyPr vert="horz" lIns="0" tIns="34290" rIns="0" bIns="3429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noProof="1"/>
              <a:t>Future Developments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88DD68A-EC68-5989-A825-FB2202890DD6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42900" y="255537"/>
            <a:ext cx="8455819" cy="155515"/>
          </a:xfrm>
          <a:prstGeom prst="rect">
            <a:avLst/>
          </a:prstGeom>
        </p:spPr>
        <p:txBody>
          <a:bodyPr vert="horz" lIns="0" tIns="0" rIns="68580" bIns="0" rtlCol="0" anchor="ctr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825" cap="all" noProof="1">
                <a:solidFill>
                  <a:schemeClr val="accent1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9" name="Google Shape;10527;p9415">
            <a:extLst>
              <a:ext uri="{FF2B5EF4-FFF2-40B4-BE49-F238E27FC236}">
                <a16:creationId xmlns:a16="http://schemas.microsoft.com/office/drawing/2014/main" id="{FED43921-0D92-B24B-ACD0-C602B78AE93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2899" y="1083603"/>
            <a:ext cx="4441048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altLang="en-US" sz="1400" dirty="0">
                <a:solidFill>
                  <a:schemeClr val="bg1"/>
                </a:solidFill>
                <a:latin typeface="+mj-lt"/>
              </a:rPr>
              <a:t>Data Expansion</a:t>
            </a:r>
            <a:endParaRPr lang="en-US" sz="1400" noProof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C8DA2-D96F-A7E0-00E6-550064277A86}"/>
              </a:ext>
            </a:extLst>
          </p:cNvPr>
          <p:cNvSpPr txBox="1"/>
          <p:nvPr/>
        </p:nvSpPr>
        <p:spPr>
          <a:xfrm>
            <a:off x="342899" y="1387405"/>
            <a:ext cx="4441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dirty="0">
                <a:latin typeface="+mn-lt"/>
              </a:rPr>
              <a:t>Expand</a:t>
            </a:r>
            <a:r>
              <a:rPr lang="en-US" sz="1200" dirty="0">
                <a:latin typeface="+mn-lt"/>
              </a:rPr>
              <a:t> the </a:t>
            </a:r>
            <a:r>
              <a:rPr lang="en-US" sz="1200" b="1" dirty="0">
                <a:latin typeface="+mn-lt"/>
              </a:rPr>
              <a:t>dataset</a:t>
            </a:r>
            <a:r>
              <a:rPr lang="en-US" sz="1200" dirty="0">
                <a:latin typeface="+mn-lt"/>
              </a:rPr>
              <a:t> and refine all data-driven components to improve </a:t>
            </a:r>
            <a:r>
              <a:rPr lang="en-US" sz="1200" b="1" dirty="0">
                <a:latin typeface="+mn-lt"/>
              </a:rPr>
              <a:t>calibration</a:t>
            </a:r>
            <a:r>
              <a:rPr lang="en-US" sz="1200" dirty="0">
                <a:latin typeface="+mn-lt"/>
              </a:rPr>
              <a:t>, enhance indicators and increase </a:t>
            </a:r>
            <a:r>
              <a:rPr lang="en-US" sz="1200" b="1" dirty="0">
                <a:latin typeface="+mn-lt"/>
              </a:rPr>
              <a:t>reliability</a:t>
            </a:r>
            <a:r>
              <a:rPr lang="en-US" sz="1200" dirty="0">
                <a:latin typeface="+mn-lt"/>
              </a:rPr>
              <a:t> of predictions.</a:t>
            </a:r>
            <a:endParaRPr lang="en-US" altLang="en-US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E4029-C68B-E67B-9714-7B0F2A73FBAC}"/>
              </a:ext>
            </a:extLst>
          </p:cNvPr>
          <p:cNvSpPr txBox="1"/>
          <p:nvPr/>
        </p:nvSpPr>
        <p:spPr>
          <a:xfrm>
            <a:off x="342899" y="3829064"/>
            <a:ext cx="42886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Extend framework to support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multiple</a:t>
            </a:r>
            <a:r>
              <a:rPr lang="en-US" altLang="en-US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manufacturers</a:t>
            </a:r>
            <a:r>
              <a:rPr lang="en-US" altLang="en-US" sz="1200" dirty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more complex operational contexts.</a:t>
            </a:r>
          </a:p>
        </p:txBody>
      </p:sp>
      <p:sp>
        <p:nvSpPr>
          <p:cNvPr id="12" name="Google Shape;10527;p9415">
            <a:extLst>
              <a:ext uri="{FF2B5EF4-FFF2-40B4-BE49-F238E27FC236}">
                <a16:creationId xmlns:a16="http://schemas.microsoft.com/office/drawing/2014/main" id="{1E2E6BDE-BA93-E7BB-FF3D-FC4E28157A0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42899" y="3528783"/>
            <a:ext cx="4441048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altLang="en-US" sz="1400" dirty="0">
                <a:solidFill>
                  <a:schemeClr val="bg1"/>
                </a:solidFill>
                <a:latin typeface="+mj-lt"/>
              </a:rPr>
              <a:t>Multi-Manufacturer Extension</a:t>
            </a:r>
            <a:endParaRPr lang="en-US" sz="1400" noProof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1BC562EF-8E43-7AF4-B5BA-AB751D9ECAF9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5915892" y="1"/>
            <a:ext cx="3228108" cy="5143500"/>
          </a:xfrm>
          <a:prstGeom prst="rect">
            <a:avLst/>
          </a:prstGeom>
          <a:solidFill>
            <a:schemeClr val="bg2"/>
          </a:solidFill>
        </p:spPr>
        <p:txBody>
          <a:bodyPr vert="horz" lIns="342900" tIns="68580" rIns="274320" bIns="68580" rtlCol="0" anchor="ctr">
            <a:normAutofit/>
          </a:bodyPr>
          <a:lstStyle>
            <a:defPPr>
              <a:defRPr lang="en-US"/>
            </a:defPPr>
            <a:lvl1pPr marL="0" indent="0" algn="l" defTabSz="685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6858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400" b="1" dirty="0">
                <a:solidFill>
                  <a:srgbClr val="125E4B"/>
                </a:solidFill>
              </a:rPr>
              <a:t>Future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development</a:t>
            </a:r>
            <a:r>
              <a:rPr lang="en-US" sz="1400" dirty="0">
                <a:solidFill>
                  <a:srgbClr val="125E4B"/>
                </a:solidFill>
              </a:rPr>
              <a:t> should focus on acquiring more </a:t>
            </a:r>
            <a:r>
              <a:rPr lang="en-US" sz="1400" b="1" dirty="0">
                <a:solidFill>
                  <a:srgbClr val="125E4B"/>
                </a:solidFill>
              </a:rPr>
              <a:t>data</a:t>
            </a:r>
            <a:r>
              <a:rPr lang="en-US" sz="1400" dirty="0">
                <a:solidFill>
                  <a:srgbClr val="125E4B"/>
                </a:solidFill>
              </a:rPr>
              <a:t> to </a:t>
            </a:r>
            <a:r>
              <a:rPr lang="en-US" sz="1400" b="1" dirty="0">
                <a:solidFill>
                  <a:srgbClr val="125E4B"/>
                </a:solidFill>
              </a:rPr>
              <a:t>improve</a:t>
            </a:r>
            <a:r>
              <a:rPr lang="en-US" sz="1400" dirty="0">
                <a:solidFill>
                  <a:srgbClr val="125E4B"/>
                </a:solidFill>
              </a:rPr>
              <a:t> </a:t>
            </a:r>
            <a:r>
              <a:rPr lang="en-US" sz="1400" b="1" dirty="0">
                <a:solidFill>
                  <a:srgbClr val="125E4B"/>
                </a:solidFill>
              </a:rPr>
              <a:t>calibration</a:t>
            </a:r>
            <a:r>
              <a:rPr lang="en-US" sz="1400" dirty="0">
                <a:solidFill>
                  <a:srgbClr val="125E4B"/>
                </a:solidFill>
              </a:rPr>
              <a:t> and support the implementation of more sophisticated solutions for specific </a:t>
            </a:r>
            <a:r>
              <a:rPr lang="en-US" sz="1400" b="1" dirty="0">
                <a:solidFill>
                  <a:srgbClr val="125E4B"/>
                </a:solidFill>
              </a:rPr>
              <a:t>indicators</a:t>
            </a:r>
            <a:r>
              <a:rPr lang="en-US" sz="1400" dirty="0">
                <a:solidFill>
                  <a:srgbClr val="125E4B"/>
                </a:solidFill>
              </a:rPr>
              <a:t>.</a:t>
            </a:r>
            <a:endParaRPr lang="en-US" altLang="en-US" sz="1400" dirty="0">
              <a:solidFill>
                <a:srgbClr val="125E4B"/>
              </a:solidFill>
            </a:endParaRPr>
          </a:p>
        </p:txBody>
      </p:sp>
      <p:sp>
        <p:nvSpPr>
          <p:cNvPr id="14" name="Google Shape;10527;p9415">
            <a:extLst>
              <a:ext uri="{FF2B5EF4-FFF2-40B4-BE49-F238E27FC236}">
                <a16:creationId xmlns:a16="http://schemas.microsoft.com/office/drawing/2014/main" id="{5E852576-BFB6-CF35-9737-ACDA80B0ED9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42899" y="2334017"/>
            <a:ext cx="4441048" cy="30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80" tIns="34290" rIns="68580" bIns="34290" anchor="ctr" anchorCtr="0">
            <a:norm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100"/>
            </a:pPr>
            <a:r>
              <a:rPr lang="en-US" altLang="en-US" sz="1400" dirty="0">
                <a:solidFill>
                  <a:schemeClr val="bg1"/>
                </a:solidFill>
                <a:latin typeface="+mj-lt"/>
              </a:rPr>
              <a:t>Refinement of Indicators Implementation</a:t>
            </a:r>
            <a:endParaRPr lang="en-US" sz="1400" noProof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8C9369-D904-39A5-5C08-C395E2DF01DB}"/>
              </a:ext>
            </a:extLst>
          </p:cNvPr>
          <p:cNvSpPr txBox="1"/>
          <p:nvPr/>
        </p:nvSpPr>
        <p:spPr>
          <a:xfrm>
            <a:off x="342899" y="2634298"/>
            <a:ext cx="4441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Implement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and validate more advanced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solutions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for specific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indicators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  <p:pic>
        <p:nvPicPr>
          <p:cNvPr id="4" name="Picture 3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EA62FF7C-719D-9469-A124-06D47927F7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69029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0C8153-69C7-32BB-73F9-B93CD93E0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45475"/>
            <a:ext cx="8455914" cy="3252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L. R. Ford and D. R. Fulkerson, “Maximal flow through a network,” Canadian Journal of Mathematics, vol. 8, no. 3, pp. 399–404, 1956.</a:t>
            </a:r>
          </a:p>
          <a:p>
            <a:pPr marL="0" indent="0">
              <a:buNone/>
            </a:pPr>
            <a:r>
              <a:rPr lang="en-US" sz="1200" dirty="0"/>
              <a:t>J. R. Norris, Markov Chains. Cambridge University Press, 1998.</a:t>
            </a:r>
          </a:p>
          <a:p>
            <a:pPr marL="0" indent="0">
              <a:buNone/>
            </a:pPr>
            <a:r>
              <a:rPr lang="en-US" sz="1200" dirty="0"/>
              <a:t>G. Grimmett and D. </a:t>
            </a:r>
            <a:r>
              <a:rPr lang="en-US" sz="1200" dirty="0" err="1"/>
              <a:t>Stirzaker</a:t>
            </a:r>
            <a:r>
              <a:rPr lang="en-US" sz="1200" dirty="0"/>
              <a:t>, Probability and Random Processes, 3rd.Oxford University Press, 2001.</a:t>
            </a:r>
          </a:p>
          <a:p>
            <a:pPr marL="0" indent="0">
              <a:buNone/>
            </a:pPr>
            <a:r>
              <a:rPr lang="en-US" sz="1200" dirty="0"/>
              <a:t>A. V. Hill, J. M. Hays, and E. Naveh, “A model for optimal delivery time guarantees,” Journal of service research, vol. 2, no. 3, pp. 254–264, 2000</a:t>
            </a:r>
          </a:p>
          <a:p>
            <a:pPr marL="0" indent="0">
              <a:buNone/>
            </a:pPr>
            <a:r>
              <a:rPr lang="en-US" sz="1200" dirty="0"/>
              <a:t>T. Gneiting and A. E. Raftery, “Strictly proper scoring rules, prediction and estimation,” Journal of the American Statistical Association, vol. 102,no. 477, pp. 359–378, 2007.</a:t>
            </a:r>
          </a:p>
          <a:p>
            <a:pPr marL="0" indent="0">
              <a:buNone/>
            </a:pPr>
            <a:r>
              <a:rPr lang="en-US" sz="1200" dirty="0"/>
              <a:t>Y. Huang, A. Bárdossy, and K. Zhang, “Sensitivity of hydrological models to temporal and spatial resolutions of rainfall data,” Hydrology and Earth System Sciences, vol. 23, no. 6, pp. 2647–2663, 2019.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8D6EC1-BF1D-A621-322A-05DFF5C4A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References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5DCA-B37B-E87A-6B29-7F5A9DF08E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000" dirty="0"/>
              <a:t>CONCLUSION</a:t>
            </a:r>
            <a:endParaRPr lang="en-US" sz="1000" dirty="0"/>
          </a:p>
        </p:txBody>
      </p:sp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B00EFDB6-B1DC-D5CC-ECE2-5DA909C3C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402" y="4521635"/>
            <a:ext cx="2294134" cy="47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29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TEMPLATE" val="D9fCV9f59UZFiLIMLoUj3k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uij4NWDig4GGj2YXDfteTl"/>
  <p:tag name="PLUS_SLIDE_PPT_ID" val="364#14719607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a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presentation_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a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agend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dHq"/>
  <p:tag name="PLUS_SLIDE_PPT_ID" val="401#50406391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uij4NWDig4GGj2YXDg0t38"/>
  <p:tag name="PLUS_SLIDE_PPT_ID" val="407#58146598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yA1m02rtmrOQ94IrtZZifU"/>
  <p:tag name="PLUS_SLIDE_PPT_ID" val="448#290044862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yA1m02rtmrOQ94IrtZZifU"/>
  <p:tag name="PLUS_SLIDE_PPT_ID" val="448#290044862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image_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atj3"/>
  <p:tag name="PLUS_SLIDE_PPT_ID" val="423#208484222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v1N2wBpLqoO2Q3HXuee3OX"/>
  <p:tag name="PLUS_SLIDE_PPT_ID" val="456#354073113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byA"/>
  <p:tag name="PLUS_SLIDE_PPT_ID" val="400#65717275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ZE0"/>
  <p:tag name="PLUS_SLIDE_PPT_ID" val="398#299483515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dHq"/>
  <p:tag name="PLUS_SLIDE_PPT_ID" val="401#50406391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ZE0"/>
  <p:tag name="PLUS_SLIDE_PPT_ID" val="398#2994835159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dHq"/>
  <p:tag name="PLUS_SLIDE_PPT_ID" val="401#50406391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dHq"/>
  <p:tag name="PLUS_SLIDE_PPT_ID" val="401#50406391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dHq"/>
  <p:tag name="PLUS_SLIDE_PPT_ID" val="401#50406391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ZdHq"/>
  <p:tag name="PLUS_SLIDE_PPT_ID" val="401#50406391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XUjG0aHTvi5ieti22ojGTV"/>
  <p:tag name="PLUS_SLIDE_PPT_ID" val="463#38543389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detail_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IZrPJ0KdVO8qEhMFzAb0kf"/>
  <p:tag name="PLUS_SLIDE_PPT_ID" val="425#2370392418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SLIDE_ID" val="XUjG0aHTvi5ieti22ojGTV"/>
  <p:tag name="PLUS_SLIDE_PPT_ID" val="463#38543389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chapt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takeaway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LUS_ID" val="header_0"/>
</p:tagLst>
</file>

<file path=ppt/theme/theme1.xml><?xml version="1.0" encoding="utf-8"?>
<a:theme xmlns:a="http://schemas.openxmlformats.org/drawingml/2006/main" name="office theme">
  <a:themeElements>
    <a:clrScheme name="Insight Modern">
      <a:dk1>
        <a:srgbClr val="000000"/>
      </a:dk1>
      <a:lt1>
        <a:srgbClr val="FFFFFF"/>
      </a:lt1>
      <a:dk2>
        <a:srgbClr val="838E8D"/>
      </a:dk2>
      <a:lt2>
        <a:srgbClr val="E5EBE9"/>
      </a:lt2>
      <a:accent1>
        <a:srgbClr val="4CB571"/>
      </a:accent1>
      <a:accent2>
        <a:srgbClr val="5FDF8E"/>
      </a:accent2>
      <a:accent3>
        <a:srgbClr val="125E4B"/>
      </a:accent3>
      <a:accent4>
        <a:srgbClr val="2BAE8D"/>
      </a:accent4>
      <a:accent5>
        <a:srgbClr val="91FCDA"/>
      </a:accent5>
      <a:accent6>
        <a:srgbClr val="B699D2"/>
      </a:accent6>
      <a:hlink>
        <a:srgbClr val="4CB571"/>
      </a:hlink>
      <a:folHlink>
        <a:srgbClr val="125E4B"/>
      </a:folHlink>
    </a:clrScheme>
    <a:fontScheme name="Aptos Light">
      <a:majorFont>
        <a:latin typeface="Aptos SemiBold"/>
        <a:ea typeface=""/>
        <a:cs typeface=""/>
      </a:majorFont>
      <a:minorFont>
        <a:latin typeface="Apto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Insight Modern">
      <a:dk1>
        <a:srgbClr val="000000"/>
      </a:dk1>
      <a:lt1>
        <a:srgbClr val="FFFFFF"/>
      </a:lt1>
      <a:dk2>
        <a:srgbClr val="838E8D"/>
      </a:dk2>
      <a:lt2>
        <a:srgbClr val="E5EBE9"/>
      </a:lt2>
      <a:accent1>
        <a:srgbClr val="4CB571"/>
      </a:accent1>
      <a:accent2>
        <a:srgbClr val="5FDF8E"/>
      </a:accent2>
      <a:accent3>
        <a:srgbClr val="125E4B"/>
      </a:accent3>
      <a:accent4>
        <a:srgbClr val="2BAE8D"/>
      </a:accent4>
      <a:accent5>
        <a:srgbClr val="91FCDA"/>
      </a:accent5>
      <a:accent6>
        <a:srgbClr val="B699D2"/>
      </a:accent6>
      <a:hlink>
        <a:srgbClr val="4CB571"/>
      </a:hlink>
      <a:folHlink>
        <a:srgbClr val="125E4B"/>
      </a:folHlink>
    </a:clrScheme>
    <a:fontScheme name="Aptos Light">
      <a:majorFont>
        <a:latin typeface="Aptos SemiBold"/>
        <a:ea typeface=""/>
        <a:cs typeface=""/>
      </a:majorFont>
      <a:minorFont>
        <a:latin typeface="Apto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nsight Modern">
      <a:dk1>
        <a:srgbClr val="000000"/>
      </a:dk1>
      <a:lt1>
        <a:srgbClr val="FFFFFF"/>
      </a:lt1>
      <a:dk2>
        <a:srgbClr val="838E8D"/>
      </a:dk2>
      <a:lt2>
        <a:srgbClr val="E5EBE9"/>
      </a:lt2>
      <a:accent1>
        <a:srgbClr val="4CB571"/>
      </a:accent1>
      <a:accent2>
        <a:srgbClr val="5FDF8E"/>
      </a:accent2>
      <a:accent3>
        <a:srgbClr val="125E4B"/>
      </a:accent3>
      <a:accent4>
        <a:srgbClr val="2BAE8D"/>
      </a:accent4>
      <a:accent5>
        <a:srgbClr val="91FCDA"/>
      </a:accent5>
      <a:accent6>
        <a:srgbClr val="B699D2"/>
      </a:accent6>
      <a:hlink>
        <a:srgbClr val="4CB571"/>
      </a:hlink>
      <a:folHlink>
        <a:srgbClr val="125E4B"/>
      </a:folHlink>
    </a:clrScheme>
    <a:fontScheme name="Aptos Light">
      <a:majorFont>
        <a:latin typeface="Aptos SemiBold"/>
        <a:ea typeface=""/>
        <a:cs typeface=""/>
      </a:majorFont>
      <a:minorFont>
        <a:latin typeface="Apto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Insight Modern">
      <a:dk1>
        <a:srgbClr val="000000"/>
      </a:dk1>
      <a:lt1>
        <a:srgbClr val="FFFFFF"/>
      </a:lt1>
      <a:dk2>
        <a:srgbClr val="838E8D"/>
      </a:dk2>
      <a:lt2>
        <a:srgbClr val="E5EBE9"/>
      </a:lt2>
      <a:accent1>
        <a:srgbClr val="4CB571"/>
      </a:accent1>
      <a:accent2>
        <a:srgbClr val="5FDF8E"/>
      </a:accent2>
      <a:accent3>
        <a:srgbClr val="125E4B"/>
      </a:accent3>
      <a:accent4>
        <a:srgbClr val="2BAE8D"/>
      </a:accent4>
      <a:accent5>
        <a:srgbClr val="91FCDA"/>
      </a:accent5>
      <a:accent6>
        <a:srgbClr val="B699D2"/>
      </a:accent6>
      <a:hlink>
        <a:srgbClr val="4CB571"/>
      </a:hlink>
      <a:folHlink>
        <a:srgbClr val="125E4B"/>
      </a:folHlink>
    </a:clrScheme>
    <a:fontScheme name="Aptos Light">
      <a:majorFont>
        <a:latin typeface="Aptos SemiBold"/>
        <a:ea typeface=""/>
        <a:cs typeface=""/>
      </a:majorFont>
      <a:minorFont>
        <a:latin typeface="Apto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Insight Modern">
      <a:dk1>
        <a:srgbClr val="000000"/>
      </a:dk1>
      <a:lt1>
        <a:srgbClr val="FFFFFF"/>
      </a:lt1>
      <a:dk2>
        <a:srgbClr val="838E8D"/>
      </a:dk2>
      <a:lt2>
        <a:srgbClr val="E5EBE9"/>
      </a:lt2>
      <a:accent1>
        <a:srgbClr val="4CB571"/>
      </a:accent1>
      <a:accent2>
        <a:srgbClr val="5FDF8E"/>
      </a:accent2>
      <a:accent3>
        <a:srgbClr val="125E4B"/>
      </a:accent3>
      <a:accent4>
        <a:srgbClr val="2BAE8D"/>
      </a:accent4>
      <a:accent5>
        <a:srgbClr val="91FCDA"/>
      </a:accent5>
      <a:accent6>
        <a:srgbClr val="B699D2"/>
      </a:accent6>
      <a:hlink>
        <a:srgbClr val="4CB571"/>
      </a:hlink>
      <a:folHlink>
        <a:srgbClr val="125E4B"/>
      </a:folHlink>
    </a:clrScheme>
    <a:fontScheme name="Aptos Light">
      <a:majorFont>
        <a:latin typeface="Aptos SemiBold"/>
        <a:ea typeface=""/>
        <a:cs typeface=""/>
      </a:majorFont>
      <a:minorFont>
        <a:latin typeface="Apto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  <wetp:taskpane dockstate="right" visibility="0" width="525" row="7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AE816A53-FFED-451F-815E-7B55E28E1682}">
  <we:reference id="wa200005566" version="3.0.0.3" store="it-IT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24D3EED-6F01-47BB-AE29-8192D9D3FE85}">
  <we:reference id="wa200007130" version="1.0.0.1" store="it-IT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AC0BC109-E9FA-4F4B-8CA9-A5331078B04F}">
  <we:reference id="wa200003964" version="1.0.0.0" store="it-IT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2825</Words>
  <Application>Microsoft Office PowerPoint</Application>
  <PresentationFormat>On-screen Show (16:9)</PresentationFormat>
  <Paragraphs>397</Paragraphs>
  <Slides>34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Arial</vt:lpstr>
      <vt:lpstr>Cambria Math</vt:lpstr>
      <vt:lpstr>Aptos SemiBold</vt:lpstr>
      <vt:lpstr>Aptos Light</vt:lpstr>
      <vt:lpstr>Aptos</vt:lpstr>
      <vt:lpstr>office theme</vt:lpstr>
      <vt:lpstr>office theme</vt:lpstr>
      <vt:lpstr>office theme</vt:lpstr>
      <vt:lpstr>office theme</vt:lpstr>
      <vt:lpstr>office theme</vt:lpstr>
      <vt:lpstr>think-cell Slide</vt:lpstr>
      <vt:lpstr>Delay Prediction in Supply Chains: A Hybrid Graph-Based and  Machine Learning Approach</vt:lpstr>
      <vt:lpstr>Agenda</vt:lpstr>
      <vt:lpstr>M4ESTRO Project Overview</vt:lpstr>
      <vt:lpstr>Motivation &amp; Purpose</vt:lpstr>
      <vt:lpstr>Key Contributions</vt:lpstr>
      <vt:lpstr>Dataset &amp; External Sources </vt:lpstr>
      <vt:lpstr>Pilot and Tracking Data</vt:lpstr>
      <vt:lpstr>Traffic, Weather and Holiday Data</vt:lpstr>
      <vt:lpstr>Supply Chain Modeling</vt:lpstr>
      <vt:lpstr>Supply Chain Graph Model</vt:lpstr>
      <vt:lpstr>Markov Chain Routing Model</vt:lpstr>
      <vt:lpstr>Paths Extraction and Probability Distributions</vt:lpstr>
      <vt:lpstr>Historical Indicators</vt:lpstr>
      <vt:lpstr>Definition</vt:lpstr>
      <vt:lpstr>Implementation</vt:lpstr>
      <vt:lpstr>Realtime Indicators</vt:lpstr>
      <vt:lpstr>Overview</vt:lpstr>
      <vt:lpstr>Definition (1)</vt:lpstr>
      <vt:lpstr>Definition (2)</vt:lpstr>
      <vt:lpstr>Implementation (1)</vt:lpstr>
      <vt:lpstr>Implementation (2)</vt:lpstr>
      <vt:lpstr>Protoype &amp; Experimental Evaluation</vt:lpstr>
      <vt:lpstr>Prototype Architecture</vt:lpstr>
      <vt:lpstr>Evaluation Methodology</vt:lpstr>
      <vt:lpstr>Quantitative Evaluation</vt:lpstr>
      <vt:lpstr>Sensitivity Analysis</vt:lpstr>
      <vt:lpstr>Evolution of Shipment Estimates (1)</vt:lpstr>
      <vt:lpstr>Evolution of Shipment Estimates (2)</vt:lpstr>
      <vt:lpstr>Evolution of Shipment Estimates (3)</vt:lpstr>
      <vt:lpstr>Evolution of Shipment Estimates (4)</vt:lpstr>
      <vt:lpstr>Evolution of Shipment Estimates (5)</vt:lpstr>
      <vt:lpstr>Conclusion</vt:lpstr>
      <vt:lpstr>Future Developments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Fox</dc:creator>
  <cp:lastModifiedBy>Bruno Puzzolante</cp:lastModifiedBy>
  <cp:revision>26</cp:revision>
  <dcterms:modified xsi:type="dcterms:W3CDTF">2026-03-03T08:54:56Z</dcterms:modified>
</cp:coreProperties>
</file>